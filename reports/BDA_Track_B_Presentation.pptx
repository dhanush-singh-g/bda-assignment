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as a comparison of data-processing technologies using real USDA food data. The numbers on this slide describe the successful development subset, not the entire release.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food can have many nutrient observations. We group by food type, nutrient ID and unit; we do not add unlike nutrients or units together. Totals are analytical sums across records, not dietary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MongoDB subset is exported into prepared files for Hadoop. MapReduce and Pig read the prepared HDFS data in separate branches. Pig does not clean MapReduce output. Hive uses the Pig-cleaned records. During laptop testing services switch to conserve memory; the lab design uses one master and two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operators are used across the implemented pipelines, not necessarily all in one pipeline. Show a few raw MongoDB documents first, then a saved aggregation answer and the adjacent live verification command. executionStats reports documents examined, keys examined and server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is a file system rather than a conventional database. YARN allocates resources for jobs. The HDFS demo also downloads a probe and compares its bytes before deleting it. Mean equals total amount divided by the count of usable observations in that nutrient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 table points to the cleaned Pig output; the RCFile table stores a converted copy of the same rows. RCFile is not a new answer file for each query. Faster performance depends on the data and workload, so we report measurements rather than promising RCFile always wins.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demonstration, finish the analysis first. Show MongoDB data with MongoDB running, then switch to Hadoop and Hive. The dashboard labels saved evidence, source identity and development scope. The native college deployment uses the dashboard in view-only mode.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successful 50,000-food run is development evidence, not a claim of completion on the required three physical systems. The full release was prepared and raw-imported separately. Explain that scanning fewer documents is stronger evidence of the index benefit than treating a zero-millisecond timer reading as zero work. End by opening the saved dashboard run for the live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BIG DATA ANALYTICS · 2026–2027</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USDA FoodData Central</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01</a:t>
            </a:r>
          </a:p>
        </p:txBody>
      </p:sp>
      <p:sp>
        <p:nvSpPr>
          <p:cNvPr id="8" name="TextBox 7"/>
          <p:cNvSpPr txBox="1"/>
          <p:nvPr/>
        </p:nvSpPr>
        <p:spPr>
          <a:xfrm>
            <a:off x="548640" y="1847088"/>
            <a:ext cx="6766560" cy="1005840"/>
          </a:xfrm>
          <a:prstGeom prst="rect">
            <a:avLst/>
          </a:prstGeom>
          <a:noFill/>
        </p:spPr>
        <p:txBody>
          <a:bodyPr wrap="square" lIns="18288" rIns="18288" tIns="27432" bIns="0">
            <a:spAutoFit/>
          </a:bodyPr>
          <a:lstStyle/>
          <a:p>
            <a:pPr>
              <a:spcAft>
                <a:spcPts val="1000"/>
              </a:spcAft>
              <a:defRPr sz="3400" b="1">
                <a:solidFill>
                  <a:srgbClr val="194F8E"/>
                </a:solidFill>
                <a:latin typeface="Aptos"/>
              </a:defRPr>
            </a:pPr>
            <a:r>
              <a:t>Food &amp; Nutrient Analytics</a:t>
            </a:r>
          </a:p>
        </p:txBody>
      </p:sp>
      <p:sp>
        <p:nvSpPr>
          <p:cNvPr id="9" name="TextBox 8"/>
          <p:cNvSpPr txBox="1"/>
          <p:nvPr/>
        </p:nvSpPr>
        <p:spPr>
          <a:xfrm>
            <a:off x="548640" y="2880360"/>
            <a:ext cx="6583680" cy="777240"/>
          </a:xfrm>
          <a:prstGeom prst="rect">
            <a:avLst/>
          </a:prstGeom>
          <a:noFill/>
        </p:spPr>
        <p:txBody>
          <a:bodyPr wrap="square" lIns="18288" rIns="18288" tIns="27432" bIns="0">
            <a:spAutoFit/>
          </a:bodyPr>
          <a:lstStyle/>
          <a:p>
            <a:pPr>
              <a:spcAft>
                <a:spcPts val="1000"/>
              </a:spcAft>
              <a:defRPr sz="2200" b="0">
                <a:solidFill>
                  <a:srgbClr val="2A3140"/>
                </a:solidFill>
                <a:latin typeface="Aptos"/>
              </a:defRPr>
            </a:pPr>
            <a:r>
              <a:t>MongoDB · Hadoop MapReduce · Pig · Hive</a:t>
            </a:r>
          </a:p>
          <a:p>
            <a:pPr>
              <a:spcAft>
                <a:spcPts val="1000"/>
              </a:spcAft>
              <a:defRPr sz="2200" b="0">
                <a:solidFill>
                  <a:srgbClr val="2A3140"/>
                </a:solidFill>
                <a:latin typeface="Aptos"/>
              </a:defRPr>
            </a:pPr>
            <a:r>
              <a:t>Flask dashboard</a:t>
            </a:r>
          </a:p>
        </p:txBody>
      </p:sp>
      <p:sp>
        <p:nvSpPr>
          <p:cNvPr id="10" name="TextBox 9"/>
          <p:cNvSpPr txBox="1"/>
          <p:nvPr/>
        </p:nvSpPr>
        <p:spPr>
          <a:xfrm>
            <a:off x="548640" y="4096512"/>
            <a:ext cx="7132320" cy="1261872"/>
          </a:xfrm>
          <a:prstGeom prst="rect">
            <a:avLst/>
          </a:prstGeom>
          <a:noFill/>
        </p:spPr>
        <p:txBody>
          <a:bodyPr wrap="square" lIns="18288" rIns="18288" tIns="27432" bIns="0">
            <a:spAutoFit/>
          </a:bodyPr>
          <a:lstStyle/>
          <a:p>
            <a:pPr>
              <a:spcAft>
                <a:spcPts val="1000"/>
              </a:spcAft>
              <a:defRPr sz="1800" b="0">
                <a:solidFill>
                  <a:srgbClr val="2A3140"/>
                </a:solidFill>
                <a:latin typeface="Aptos"/>
              </a:defRPr>
            </a:pPr>
            <a:r>
              <a:t>Abhishek R — 1JS23CS004</a:t>
            </a:r>
          </a:p>
          <a:p>
            <a:pPr>
              <a:spcAft>
                <a:spcPts val="1000"/>
              </a:spcAft>
              <a:defRPr sz="1800" b="0">
                <a:solidFill>
                  <a:srgbClr val="2A3140"/>
                </a:solidFill>
                <a:latin typeface="Aptos"/>
              </a:defRPr>
            </a:pPr>
            <a:r>
              <a:t>Adithya V — 1JS23CS005</a:t>
            </a:r>
          </a:p>
          <a:p>
            <a:pPr>
              <a:spcAft>
                <a:spcPts val="1000"/>
              </a:spcAft>
              <a:defRPr sz="1800" b="0">
                <a:solidFill>
                  <a:srgbClr val="2A3140"/>
                </a:solidFill>
                <a:latin typeface="Aptos"/>
              </a:defRPr>
            </a:pPr>
            <a:r>
              <a:t>Dhanush Singh G — 1JS23CS048</a:t>
            </a:r>
          </a:p>
        </p:txBody>
      </p:sp>
      <p:sp>
        <p:nvSpPr>
          <p:cNvPr id="11" name="TextBox 10"/>
          <p:cNvSpPr txBox="1"/>
          <p:nvPr/>
        </p:nvSpPr>
        <p:spPr>
          <a:xfrm>
            <a:off x="548640" y="5532120"/>
            <a:ext cx="7315200" cy="594360"/>
          </a:xfrm>
          <a:prstGeom prst="rect">
            <a:avLst/>
          </a:prstGeom>
          <a:noFill/>
        </p:spPr>
        <p:txBody>
          <a:bodyPr wrap="square" lIns="18288" rIns="18288" tIns="27432" bIns="0">
            <a:spAutoFit/>
          </a:bodyPr>
          <a:lstStyle/>
          <a:p>
            <a:pPr>
              <a:spcAft>
                <a:spcPts val="1000"/>
              </a:spcAft>
              <a:defRPr sz="1500" b="0">
                <a:solidFill>
                  <a:srgbClr val="596678"/>
                </a:solidFill>
                <a:latin typeface="Aptos"/>
              </a:defRPr>
            </a:pPr>
            <a:r>
              <a:t>Guide: Sandhiya B</a:t>
            </a:r>
          </a:p>
          <a:p>
            <a:pPr>
              <a:spcAft>
                <a:spcPts val="1000"/>
              </a:spcAft>
              <a:defRPr sz="1500" b="0">
                <a:solidFill>
                  <a:srgbClr val="596678"/>
                </a:solidFill>
                <a:latin typeface="Aptos"/>
              </a:defRPr>
            </a:pPr>
            <a:r>
              <a:t>JSS Academy of Technical Education · CSE</a:t>
            </a:r>
          </a:p>
        </p:txBody>
      </p:sp>
      <p:sp>
        <p:nvSpPr>
          <p:cNvPr id="12" name="Rounded Rectangle 11"/>
          <p:cNvSpPr/>
          <p:nvPr/>
        </p:nvSpPr>
        <p:spPr>
          <a:xfrm>
            <a:off x="8229600" y="1874519"/>
            <a:ext cx="3383280" cy="402336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2267712"/>
            <a:ext cx="2834640" cy="731520"/>
          </a:xfrm>
          <a:prstGeom prst="rect">
            <a:avLst/>
          </a:prstGeom>
          <a:noFill/>
        </p:spPr>
        <p:txBody>
          <a:bodyPr wrap="square" lIns="18288" rIns="18288" tIns="27432" bIns="0">
            <a:spAutoFit/>
          </a:bodyPr>
          <a:lstStyle/>
          <a:p>
            <a:pPr>
              <a:spcAft>
                <a:spcPts val="1000"/>
              </a:spcAft>
              <a:defRPr sz="3800" b="1">
                <a:solidFill>
                  <a:srgbClr val="194F8E"/>
                </a:solidFill>
                <a:latin typeface="Aptos"/>
              </a:defRPr>
            </a:pPr>
            <a:r>
              <a:t>50,000</a:t>
            </a:r>
          </a:p>
        </p:txBody>
      </p:sp>
      <p:sp>
        <p:nvSpPr>
          <p:cNvPr id="14" name="TextBox 13"/>
          <p:cNvSpPr txBox="1"/>
          <p:nvPr/>
        </p:nvSpPr>
        <p:spPr>
          <a:xfrm>
            <a:off x="8503920" y="3017520"/>
            <a:ext cx="2834640" cy="502920"/>
          </a:xfrm>
          <a:prstGeom prst="rect">
            <a:avLst/>
          </a:prstGeom>
          <a:noFill/>
        </p:spPr>
        <p:txBody>
          <a:bodyPr wrap="square" lIns="18288" rIns="18288" tIns="27432" bIns="0">
            <a:spAutoFit/>
          </a:bodyPr>
          <a:lstStyle/>
          <a:p>
            <a:pPr>
              <a:spcAft>
                <a:spcPts val="1000"/>
              </a:spcAft>
              <a:defRPr sz="2000" b="0">
                <a:solidFill>
                  <a:srgbClr val="2A3140"/>
                </a:solidFill>
                <a:latin typeface="Aptos"/>
              </a:defRPr>
            </a:pPr>
            <a:r>
              <a:t>foods tested</a:t>
            </a:r>
          </a:p>
        </p:txBody>
      </p:sp>
      <p:sp>
        <p:nvSpPr>
          <p:cNvPr id="15" name="TextBox 14"/>
          <p:cNvSpPr txBox="1"/>
          <p:nvPr/>
        </p:nvSpPr>
        <p:spPr>
          <a:xfrm>
            <a:off x="8503920" y="3886200"/>
            <a:ext cx="2834640" cy="731520"/>
          </a:xfrm>
          <a:prstGeom prst="rect">
            <a:avLst/>
          </a:prstGeom>
          <a:noFill/>
        </p:spPr>
        <p:txBody>
          <a:bodyPr wrap="square" lIns="18288" rIns="18288" tIns="27432" bIns="0">
            <a:spAutoFit/>
          </a:bodyPr>
          <a:lstStyle/>
          <a:p>
            <a:pPr>
              <a:spcAft>
                <a:spcPts val="1000"/>
              </a:spcAft>
              <a:defRPr sz="2800" b="1">
                <a:solidFill>
                  <a:srgbClr val="194F8E"/>
                </a:solidFill>
                <a:latin typeface="Aptos"/>
              </a:defRPr>
            </a:pPr>
            <a:r>
              <a:t>1,126,928</a:t>
            </a:r>
          </a:p>
        </p:txBody>
      </p:sp>
      <p:sp>
        <p:nvSpPr>
          <p:cNvPr id="16" name="TextBox 15"/>
          <p:cNvSpPr txBox="1"/>
          <p:nvPr/>
        </p:nvSpPr>
        <p:spPr>
          <a:xfrm>
            <a:off x="8503920" y="4663440"/>
            <a:ext cx="2834640" cy="731520"/>
          </a:xfrm>
          <a:prstGeom prst="rect">
            <a:avLst/>
          </a:prstGeom>
          <a:noFill/>
        </p:spPr>
        <p:txBody>
          <a:bodyPr wrap="square" lIns="18288" rIns="18288" tIns="27432" bIns="0">
            <a:spAutoFit/>
          </a:bodyPr>
          <a:lstStyle/>
          <a:p>
            <a:pPr>
              <a:spcAft>
                <a:spcPts val="1000"/>
              </a:spcAft>
              <a:defRPr sz="2000" b="0">
                <a:solidFill>
                  <a:srgbClr val="2A3140"/>
                </a:solidFill>
                <a:latin typeface="Aptos"/>
              </a:defRPr>
            </a:pPr>
            <a:r>
              <a:t>linked nutrient</a:t>
            </a:r>
          </a:p>
          <a:p>
            <a:pPr>
              <a:spcAft>
                <a:spcPts val="1000"/>
              </a:spcAft>
              <a:defRPr sz="2000" b="0">
                <a:solidFill>
                  <a:srgbClr val="2A3140"/>
                </a:solidFill>
                <a:latin typeface="Aptos"/>
              </a:defRPr>
            </a:pPr>
            <a:r>
              <a:t>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PROJECT OBJECTIVE</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Turn food records into useful, checked answers</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02</a:t>
            </a:r>
          </a:p>
        </p:txBody>
      </p:sp>
      <p:sp>
        <p:nvSpPr>
          <p:cNvPr id="8" name="Rounded Rectangle 7"/>
          <p:cNvSpPr/>
          <p:nvPr/>
        </p:nvSpPr>
        <p:spPr>
          <a:xfrm>
            <a:off x="548640" y="1965960"/>
            <a:ext cx="3566160" cy="33832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48840"/>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01 / DATA</a:t>
            </a:r>
          </a:p>
        </p:txBody>
      </p:sp>
      <p:sp>
        <p:nvSpPr>
          <p:cNvPr id="10" name="TextBox 9"/>
          <p:cNvSpPr txBox="1"/>
          <p:nvPr/>
        </p:nvSpPr>
        <p:spPr>
          <a:xfrm>
            <a:off x="749808" y="2560320"/>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What is in the data?</a:t>
            </a:r>
          </a:p>
        </p:txBody>
      </p:sp>
      <p:sp>
        <p:nvSpPr>
          <p:cNvPr id="11" name="TextBox 10"/>
          <p:cNvSpPr txBox="1"/>
          <p:nvPr/>
        </p:nvSpPr>
        <p:spPr>
          <a:xfrm>
            <a:off x="749808" y="3429000"/>
            <a:ext cx="3163824" cy="18745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Food names, types and nutrient amounts from USDA’s October 2024 CSV package.</a:t>
            </a:r>
          </a:p>
        </p:txBody>
      </p:sp>
      <p:sp>
        <p:nvSpPr>
          <p:cNvPr id="12" name="Rounded Rectangle 11"/>
          <p:cNvSpPr/>
          <p:nvPr/>
        </p:nvSpPr>
        <p:spPr>
          <a:xfrm>
            <a:off x="4325112" y="1965960"/>
            <a:ext cx="3566160" cy="33832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148840"/>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02 / ANALYSIS</a:t>
            </a:r>
          </a:p>
        </p:txBody>
      </p:sp>
      <p:sp>
        <p:nvSpPr>
          <p:cNvPr id="14" name="TextBox 13"/>
          <p:cNvSpPr txBox="1"/>
          <p:nvPr/>
        </p:nvSpPr>
        <p:spPr>
          <a:xfrm>
            <a:off x="4526280" y="2560320"/>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What do we calculate?</a:t>
            </a:r>
          </a:p>
        </p:txBody>
      </p:sp>
      <p:sp>
        <p:nvSpPr>
          <p:cNvPr id="15" name="TextBox 14"/>
          <p:cNvSpPr txBox="1"/>
          <p:nvPr/>
        </p:nvSpPr>
        <p:spPr>
          <a:xfrm>
            <a:off x="4526280" y="3429000"/>
            <a:ext cx="3163824" cy="18745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Food counts and nutrient totals, averages and observation counts, grouped by food type.</a:t>
            </a:r>
          </a:p>
        </p:txBody>
      </p:sp>
      <p:sp>
        <p:nvSpPr>
          <p:cNvPr id="16" name="Rounded Rectangle 15"/>
          <p:cNvSpPr/>
          <p:nvPr/>
        </p:nvSpPr>
        <p:spPr>
          <a:xfrm>
            <a:off x="8101583" y="1965960"/>
            <a:ext cx="3538728" cy="33832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148840"/>
            <a:ext cx="3136392"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03 / COMPARISON</a:t>
            </a:r>
          </a:p>
        </p:txBody>
      </p:sp>
      <p:sp>
        <p:nvSpPr>
          <p:cNvPr id="18" name="TextBox 17"/>
          <p:cNvSpPr txBox="1"/>
          <p:nvPr/>
        </p:nvSpPr>
        <p:spPr>
          <a:xfrm>
            <a:off x="8302752" y="2560320"/>
            <a:ext cx="3136392"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What do we compare?</a:t>
            </a:r>
          </a:p>
        </p:txBody>
      </p:sp>
      <p:sp>
        <p:nvSpPr>
          <p:cNvPr id="19" name="TextBox 18"/>
          <p:cNvSpPr txBox="1"/>
          <p:nvPr/>
        </p:nvSpPr>
        <p:spPr>
          <a:xfrm>
            <a:off x="8302752" y="3429000"/>
            <a:ext cx="3136392" cy="18745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Indexed vs unindexed searches; Hive Text vs RCFile query time and storage.</a:t>
            </a:r>
          </a:p>
        </p:txBody>
      </p:sp>
      <p:sp>
        <p:nvSpPr>
          <p:cNvPr id="20" name="TextBox 19"/>
          <p:cNvSpPr txBox="1"/>
          <p:nvPr/>
        </p:nvSpPr>
        <p:spPr>
          <a:xfrm>
            <a:off x="640080" y="5669280"/>
            <a:ext cx="10972800" cy="457200"/>
          </a:xfrm>
          <a:prstGeom prst="rect">
            <a:avLst/>
          </a:prstGeom>
          <a:noFill/>
        </p:spPr>
        <p:txBody>
          <a:bodyPr wrap="square" lIns="18288" rIns="18288" tIns="27432" bIns="0">
            <a:spAutoFit/>
          </a:bodyPr>
          <a:lstStyle/>
          <a:p>
            <a:pPr>
              <a:spcAft>
                <a:spcPts val="1000"/>
              </a:spcAft>
              <a:defRPr sz="1800" b="0">
                <a:solidFill>
                  <a:srgbClr val="596678"/>
                </a:solidFill>
                <a:latin typeface="Aptos"/>
              </a:defRPr>
            </a:pPr>
            <a:r>
              <a:t>Full source: 2,063,876 foods and 26,848,323 food–nutrient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END-TO-END ARCHITECTURE</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One dataset, two processing branches</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03</a:t>
            </a:r>
          </a:p>
        </p:txBody>
      </p:sp>
      <p:sp>
        <p:nvSpPr>
          <p:cNvPr id="8" name="Rounded Rectangle 7"/>
          <p:cNvSpPr/>
          <p:nvPr/>
        </p:nvSpPr>
        <p:spPr>
          <a:xfrm>
            <a:off x="4297680" y="1783080"/>
            <a:ext cx="3566160" cy="594360"/>
          </a:xfrm>
          <a:prstGeom prst="roundRect">
            <a:avLst/>
          </a:prstGeom>
          <a:solidFill>
            <a:srgbClr val="14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856231"/>
            <a:ext cx="3291840" cy="411480"/>
          </a:xfrm>
          <a:prstGeom prst="rect">
            <a:avLst/>
          </a:prstGeom>
          <a:noFill/>
        </p:spPr>
        <p:txBody>
          <a:bodyPr wrap="square" lIns="18288" rIns="18288" tIns="27432" bIns="0">
            <a:spAutoFit/>
          </a:bodyPr>
          <a:lstStyle/>
          <a:p>
            <a:pPr algn="ctr">
              <a:spcAft>
                <a:spcPts val="1000"/>
              </a:spcAft>
              <a:defRPr sz="2200" b="1">
                <a:solidFill>
                  <a:srgbClr val="FFFFFF"/>
                </a:solidFill>
                <a:latin typeface="Aptos"/>
              </a:defRPr>
            </a:pPr>
            <a:r>
              <a:t>USDA CSV ZIP</a:t>
            </a:r>
          </a:p>
        </p:txBody>
      </p:sp>
      <p:cxnSp>
        <p:nvCxnSpPr>
          <p:cNvPr id="10" name="Connector 9"/>
          <p:cNvCxnSpPr/>
          <p:nvPr/>
        </p:nvCxnSpPr>
        <p:spPr>
          <a:xfrm flipH="1">
            <a:off x="2743200" y="2377440"/>
            <a:ext cx="1965960" cy="365760"/>
          </a:xfrm>
          <a:prstGeom prst="line">
            <a:avLst/>
          </a:prstGeom>
          <a:ln w="25400">
            <a:solidFill>
              <a:srgbClr val="194F8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52360" y="2377440"/>
            <a:ext cx="1874520" cy="365760"/>
          </a:xfrm>
          <a:prstGeom prst="line">
            <a:avLst/>
          </a:prstGeom>
          <a:ln w="25400">
            <a:solidFill>
              <a:srgbClr val="194F8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 y="2743200"/>
            <a:ext cx="5349240" cy="2377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92608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THEME 1</a:t>
            </a:r>
          </a:p>
        </p:txBody>
      </p:sp>
      <p:sp>
        <p:nvSpPr>
          <p:cNvPr id="14" name="TextBox 13"/>
          <p:cNvSpPr txBox="1"/>
          <p:nvPr/>
        </p:nvSpPr>
        <p:spPr>
          <a:xfrm>
            <a:off x="749808" y="333756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MongoDB</a:t>
            </a:r>
          </a:p>
        </p:txBody>
      </p:sp>
      <p:sp>
        <p:nvSpPr>
          <p:cNvPr id="15" name="TextBox 14"/>
          <p:cNvSpPr txBox="1"/>
          <p:nvPr/>
        </p:nvSpPr>
        <p:spPr>
          <a:xfrm>
            <a:off x="749808" y="4206240"/>
            <a:ext cx="4946903" cy="868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Ingest → index → aggregate → profile</a:t>
            </a:r>
          </a:p>
        </p:txBody>
      </p:sp>
      <p:sp>
        <p:nvSpPr>
          <p:cNvPr id="16" name="Rounded Rectangle 15"/>
          <p:cNvSpPr/>
          <p:nvPr/>
        </p:nvSpPr>
        <p:spPr>
          <a:xfrm>
            <a:off x="6263640" y="2743200"/>
            <a:ext cx="5349240" cy="2377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7" y="292608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THEMES 2 &amp; 3</a:t>
            </a:r>
          </a:p>
        </p:txBody>
      </p:sp>
      <p:sp>
        <p:nvSpPr>
          <p:cNvPr id="18" name="TextBox 17"/>
          <p:cNvSpPr txBox="1"/>
          <p:nvPr/>
        </p:nvSpPr>
        <p:spPr>
          <a:xfrm>
            <a:off x="6464807" y="333756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Prepared files in HDFS</a:t>
            </a:r>
          </a:p>
        </p:txBody>
      </p:sp>
      <p:sp>
        <p:nvSpPr>
          <p:cNvPr id="19" name="TextBox 18"/>
          <p:cNvSpPr txBox="1"/>
          <p:nvPr/>
        </p:nvSpPr>
        <p:spPr>
          <a:xfrm>
            <a:off x="6464807" y="4206240"/>
            <a:ext cx="4946903" cy="868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MapReduce summaries</a:t>
            </a:r>
          </a:p>
          <a:p>
            <a:pPr>
              <a:spcAft>
                <a:spcPts val="1000"/>
              </a:spcAft>
              <a:defRPr sz="1700" b="0">
                <a:solidFill>
                  <a:srgbClr val="2A3140"/>
                </a:solidFill>
                <a:latin typeface="Aptos"/>
              </a:defRPr>
            </a:pPr>
            <a:r>
              <a:t>Pig cleaning → Hive Text + RCFile</a:t>
            </a:r>
          </a:p>
        </p:txBody>
      </p:sp>
      <p:sp>
        <p:nvSpPr>
          <p:cNvPr id="20" name="Rounded Rectangle 19"/>
          <p:cNvSpPr/>
          <p:nvPr/>
        </p:nvSpPr>
        <p:spPr>
          <a:xfrm>
            <a:off x="2103120" y="5486400"/>
            <a:ext cx="7955279" cy="59436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40280" y="5559552"/>
            <a:ext cx="7680960" cy="411480"/>
          </a:xfrm>
          <a:prstGeom prst="rect">
            <a:avLst/>
          </a:prstGeom>
          <a:noFill/>
        </p:spPr>
        <p:txBody>
          <a:bodyPr wrap="square" lIns="18288" rIns="18288" tIns="27432" bIns="0">
            <a:spAutoFit/>
          </a:bodyPr>
          <a:lstStyle/>
          <a:p>
            <a:pPr algn="ctr">
              <a:spcAft>
                <a:spcPts val="1000"/>
              </a:spcAft>
              <a:defRPr sz="2000" b="1">
                <a:solidFill>
                  <a:srgbClr val="194F8E"/>
                </a:solidFill>
                <a:latin typeface="Aptos"/>
              </a:defRPr>
            </a:pPr>
            <a:r>
              <a:t>Reconcile answers → save evidence → Flask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THEME 1 · MONGODB</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Store documents, summarize data, measure searches</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04</a:t>
            </a:r>
          </a:p>
        </p:txBody>
      </p:sp>
      <p:sp>
        <p:nvSpPr>
          <p:cNvPr id="8" name="Rounded Rectangle 7"/>
          <p:cNvSpPr/>
          <p:nvPr/>
        </p:nvSpPr>
        <p:spPr>
          <a:xfrm>
            <a:off x="548640" y="1920240"/>
            <a:ext cx="5349240" cy="297180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0312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INGESTION &amp; ANALYTICS</a:t>
            </a:r>
          </a:p>
        </p:txBody>
      </p:sp>
      <p:sp>
        <p:nvSpPr>
          <p:cNvPr id="10" name="TextBox 9"/>
          <p:cNvSpPr txBox="1"/>
          <p:nvPr/>
        </p:nvSpPr>
        <p:spPr>
          <a:xfrm>
            <a:off x="749808" y="251460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From raw records to summaries</a:t>
            </a:r>
          </a:p>
        </p:txBody>
      </p:sp>
      <p:sp>
        <p:nvSpPr>
          <p:cNvPr id="11" name="TextBox 10"/>
          <p:cNvSpPr txBox="1"/>
          <p:nvPr/>
        </p:nvSpPr>
        <p:spPr>
          <a:xfrm>
            <a:off x="749808" y="3383280"/>
            <a:ext cx="4946903" cy="146304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Raw collections preserve source records.</a:t>
            </a:r>
          </a:p>
          <a:p>
            <a:pPr>
              <a:spcAft>
                <a:spcPts val="1000"/>
              </a:spcAft>
              <a:defRPr sz="1700" b="0">
                <a:solidFill>
                  <a:srgbClr val="2A3140"/>
                </a:solidFill>
                <a:latin typeface="Aptos"/>
              </a:defRPr>
            </a:pPr>
            <a:r>
              <a:t>Linked nutrient data supports analytical pipelines.</a:t>
            </a:r>
          </a:p>
        </p:txBody>
      </p:sp>
      <p:sp>
        <p:nvSpPr>
          <p:cNvPr id="12" name="Rounded Rectangle 11"/>
          <p:cNvSpPr/>
          <p:nvPr/>
        </p:nvSpPr>
        <p:spPr>
          <a:xfrm>
            <a:off x="6263640" y="1920240"/>
            <a:ext cx="5349240" cy="297180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210312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QUERY PROFILING</a:t>
            </a:r>
          </a:p>
        </p:txBody>
      </p:sp>
      <p:sp>
        <p:nvSpPr>
          <p:cNvPr id="14" name="TextBox 13"/>
          <p:cNvSpPr txBox="1"/>
          <p:nvPr/>
        </p:nvSpPr>
        <p:spPr>
          <a:xfrm>
            <a:off x="6464807" y="251460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Prove the effect of an index</a:t>
            </a:r>
          </a:p>
        </p:txBody>
      </p:sp>
      <p:sp>
        <p:nvSpPr>
          <p:cNvPr id="15" name="TextBox 14"/>
          <p:cNvSpPr txBox="1"/>
          <p:nvPr/>
        </p:nvSpPr>
        <p:spPr>
          <a:xfrm>
            <a:off x="6464807" y="3383280"/>
            <a:ext cx="4946903" cy="146304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Run the same lookup with a collection scan and an index; inspect executionStats.</a:t>
            </a:r>
          </a:p>
        </p:txBody>
      </p:sp>
      <p:sp>
        <p:nvSpPr>
          <p:cNvPr id="16" name="TextBox 15"/>
          <p:cNvSpPr txBox="1"/>
          <p:nvPr/>
        </p:nvSpPr>
        <p:spPr>
          <a:xfrm>
            <a:off x="685800" y="5166360"/>
            <a:ext cx="10881360" cy="411480"/>
          </a:xfrm>
          <a:prstGeom prst="rect">
            <a:avLst/>
          </a:prstGeom>
          <a:noFill/>
        </p:spPr>
        <p:txBody>
          <a:bodyPr wrap="square" lIns="18288" rIns="18288" tIns="27432" bIns="0">
            <a:spAutoFit/>
          </a:bodyPr>
          <a:lstStyle/>
          <a:p>
            <a:pPr>
              <a:spcAft>
                <a:spcPts val="1000"/>
              </a:spcAft>
              <a:defRPr sz="2300" b="1">
                <a:solidFill>
                  <a:srgbClr val="194F8E"/>
                </a:solidFill>
                <a:latin typeface="Aptos"/>
              </a:defRPr>
            </a:pPr>
            <a:r>
              <a:t>$match  →  $group  →  $project  ·  $unwind  ·  $facet</a:t>
            </a:r>
          </a:p>
        </p:txBody>
      </p:sp>
      <p:sp>
        <p:nvSpPr>
          <p:cNvPr id="17" name="TextBox 16"/>
          <p:cNvSpPr txBox="1"/>
          <p:nvPr/>
        </p:nvSpPr>
        <p:spPr>
          <a:xfrm>
            <a:off x="685800" y="5705856"/>
            <a:ext cx="10881360" cy="365760"/>
          </a:xfrm>
          <a:prstGeom prst="rect">
            <a:avLst/>
          </a:prstGeom>
          <a:noFill/>
        </p:spPr>
        <p:txBody>
          <a:bodyPr wrap="square" lIns="18288" rIns="18288" tIns="27432" bIns="0">
            <a:spAutoFit/>
          </a:bodyPr>
          <a:lstStyle/>
          <a:p>
            <a:pPr>
              <a:spcAft>
                <a:spcPts val="1000"/>
              </a:spcAft>
              <a:defRPr sz="1700" b="0">
                <a:solidFill>
                  <a:srgbClr val="596678"/>
                </a:solidFill>
                <a:latin typeface="Aptos"/>
              </a:defRPr>
            </a:pPr>
            <a:r>
              <a:t>Filter  ·  summarize  ·  choose fields  ·  expand arrays  ·  return multiple summaries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THEME 2 · HADOOP &amp; MAPREDUCE</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Distribute files and calculate nutrient summaries</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05</a:t>
            </a:r>
          </a:p>
        </p:txBody>
      </p:sp>
      <p:sp>
        <p:nvSpPr>
          <p:cNvPr id="8" name="Rounded Rectangle 7"/>
          <p:cNvSpPr/>
          <p:nvPr/>
        </p:nvSpPr>
        <p:spPr>
          <a:xfrm>
            <a:off x="548640" y="1920240"/>
            <a:ext cx="5349240" cy="3520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0312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HDFS FILE OPERATIONS</a:t>
            </a:r>
          </a:p>
        </p:txBody>
      </p:sp>
      <p:sp>
        <p:nvSpPr>
          <p:cNvPr id="10" name="TextBox 9"/>
          <p:cNvSpPr txBox="1"/>
          <p:nvPr/>
        </p:nvSpPr>
        <p:spPr>
          <a:xfrm>
            <a:off x="749808" y="251460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Shared distributed storage</a:t>
            </a:r>
          </a:p>
        </p:txBody>
      </p:sp>
      <p:sp>
        <p:nvSpPr>
          <p:cNvPr id="11" name="TextBox 10"/>
          <p:cNvSpPr txBox="1"/>
          <p:nvPr/>
        </p:nvSpPr>
        <p:spPr>
          <a:xfrm>
            <a:off x="749808" y="3383280"/>
            <a:ext cx="4946903" cy="2011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mkdir: create folders</a:t>
            </a:r>
          </a:p>
          <a:p>
            <a:pPr>
              <a:spcAft>
                <a:spcPts val="1000"/>
              </a:spcAft>
              <a:defRPr sz="1700" b="0">
                <a:solidFill>
                  <a:srgbClr val="2A3140"/>
                </a:solidFill>
                <a:latin typeface="Aptos"/>
              </a:defRPr>
            </a:pPr>
            <a:r>
              <a:t>put: upload files</a:t>
            </a:r>
          </a:p>
          <a:p>
            <a:pPr>
              <a:spcAft>
                <a:spcPts val="1000"/>
              </a:spcAft>
              <a:defRPr sz="1700" b="0">
                <a:solidFill>
                  <a:srgbClr val="2A3140"/>
                </a:solidFill>
                <a:latin typeface="Aptos"/>
              </a:defRPr>
            </a:pPr>
            <a:r>
              <a:t>cat / get: view or retrieve</a:t>
            </a:r>
          </a:p>
          <a:p>
            <a:pPr>
              <a:spcAft>
                <a:spcPts val="1000"/>
              </a:spcAft>
              <a:defRPr sz="1700" b="0">
                <a:solidFill>
                  <a:srgbClr val="2A3140"/>
                </a:solidFill>
                <a:latin typeface="Aptos"/>
              </a:defRPr>
            </a:pPr>
            <a:r>
              <a:t>rm -r: delete the demo folder</a:t>
            </a:r>
          </a:p>
        </p:txBody>
      </p:sp>
      <p:sp>
        <p:nvSpPr>
          <p:cNvPr id="12" name="Rounded Rectangle 11"/>
          <p:cNvSpPr/>
          <p:nvPr/>
        </p:nvSpPr>
        <p:spPr>
          <a:xfrm>
            <a:off x="6263640" y="1920240"/>
            <a:ext cx="5349240" cy="3520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2103120"/>
            <a:ext cx="4946903"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PYTHON STREAMING ON YARN</a:t>
            </a:r>
          </a:p>
        </p:txBody>
      </p:sp>
      <p:sp>
        <p:nvSpPr>
          <p:cNvPr id="14" name="TextBox 13"/>
          <p:cNvSpPr txBox="1"/>
          <p:nvPr/>
        </p:nvSpPr>
        <p:spPr>
          <a:xfrm>
            <a:off x="6464807" y="2514600"/>
            <a:ext cx="4946903"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Map → shuffle → reduce</a:t>
            </a:r>
          </a:p>
        </p:txBody>
      </p:sp>
      <p:sp>
        <p:nvSpPr>
          <p:cNvPr id="15" name="TextBox 14"/>
          <p:cNvSpPr txBox="1"/>
          <p:nvPr/>
        </p:nvSpPr>
        <p:spPr>
          <a:xfrm>
            <a:off x="6464807" y="3383280"/>
            <a:ext cx="4946903" cy="2011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Mapper emits nutrient groups and amounts.</a:t>
            </a:r>
          </a:p>
          <a:p>
            <a:pPr>
              <a:spcAft>
                <a:spcPts val="1000"/>
              </a:spcAft>
              <a:defRPr sz="1700" b="0">
                <a:solidFill>
                  <a:srgbClr val="2A3140"/>
                </a:solidFill>
                <a:latin typeface="Aptos"/>
              </a:defRPr>
            </a:pPr>
            <a:r>
              <a:t>Reducers calculate count, total and mean.</a:t>
            </a:r>
          </a:p>
          <a:p>
            <a:pPr>
              <a:spcAft>
                <a:spcPts val="1000"/>
              </a:spcAft>
              <a:defRPr sz="1700" b="0">
                <a:solidFill>
                  <a:srgbClr val="2A3140"/>
                </a:solidFill>
                <a:latin typeface="Aptos"/>
              </a:defRPr>
            </a:pPr>
            <a:r>
              <a:t>Results are checked against reference answers.</a:t>
            </a:r>
          </a:p>
        </p:txBody>
      </p:sp>
      <p:sp>
        <p:nvSpPr>
          <p:cNvPr id="16" name="TextBox 15"/>
          <p:cNvSpPr txBox="1"/>
          <p:nvPr/>
        </p:nvSpPr>
        <p:spPr>
          <a:xfrm>
            <a:off x="685800" y="5669280"/>
            <a:ext cx="10881360" cy="365760"/>
          </a:xfrm>
          <a:prstGeom prst="rect">
            <a:avLst/>
          </a:prstGeom>
          <a:noFill/>
        </p:spPr>
        <p:txBody>
          <a:bodyPr wrap="square" lIns="18288" rIns="18288" tIns="27432" bIns="0">
            <a:spAutoFit/>
          </a:bodyPr>
          <a:lstStyle/>
          <a:p>
            <a:pPr>
              <a:spcAft>
                <a:spcPts val="1000"/>
              </a:spcAft>
              <a:defRPr sz="1700" b="0">
                <a:solidFill>
                  <a:srgbClr val="596678"/>
                </a:solidFill>
                <a:latin typeface="Aptos"/>
              </a:defRPr>
            </a:pPr>
            <a:r>
              <a:t>Development: master + two Docker workers. Lab architecture: three physical Ubuntu systems.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THEME 3 · PIG &amp; HIVE</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Clean once, compare two storage formats</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06</a:t>
            </a:r>
          </a:p>
        </p:txBody>
      </p:sp>
      <p:sp>
        <p:nvSpPr>
          <p:cNvPr id="8" name="Rounded Rectangle 7"/>
          <p:cNvSpPr/>
          <p:nvPr/>
        </p:nvSpPr>
        <p:spPr>
          <a:xfrm>
            <a:off x="548640" y="1901952"/>
            <a:ext cx="3566160" cy="36118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084832"/>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01 / PIG</a:t>
            </a:r>
          </a:p>
        </p:txBody>
      </p:sp>
      <p:sp>
        <p:nvSpPr>
          <p:cNvPr id="10" name="TextBox 9"/>
          <p:cNvSpPr txBox="1"/>
          <p:nvPr/>
        </p:nvSpPr>
        <p:spPr>
          <a:xfrm>
            <a:off x="749808" y="2496312"/>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Clean the HDFS data</a:t>
            </a:r>
          </a:p>
        </p:txBody>
      </p:sp>
      <p:sp>
        <p:nvSpPr>
          <p:cNvPr id="11" name="TextBox 10"/>
          <p:cNvSpPr txBox="1"/>
          <p:nvPr/>
        </p:nvSpPr>
        <p:spPr>
          <a:xfrm>
            <a:off x="749808" y="3364992"/>
            <a:ext cx="3163824" cy="21031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Load prepared records; keep usable, nonnegative nutrient amounts. Save cleaned records to HDFS.</a:t>
            </a:r>
          </a:p>
        </p:txBody>
      </p:sp>
      <p:sp>
        <p:nvSpPr>
          <p:cNvPr id="12" name="Rounded Rectangle 11"/>
          <p:cNvSpPr/>
          <p:nvPr/>
        </p:nvSpPr>
        <p:spPr>
          <a:xfrm>
            <a:off x="4325112" y="1901952"/>
            <a:ext cx="3566160" cy="36118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084832"/>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02 / HIVE</a:t>
            </a:r>
          </a:p>
        </p:txBody>
      </p:sp>
      <p:sp>
        <p:nvSpPr>
          <p:cNvPr id="14" name="TextBox 13"/>
          <p:cNvSpPr txBox="1"/>
          <p:nvPr/>
        </p:nvSpPr>
        <p:spPr>
          <a:xfrm>
            <a:off x="4526280" y="2496312"/>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Same data, two tables</a:t>
            </a:r>
          </a:p>
        </p:txBody>
      </p:sp>
      <p:sp>
        <p:nvSpPr>
          <p:cNvPr id="15" name="TextBox 14"/>
          <p:cNvSpPr txBox="1"/>
          <p:nvPr/>
        </p:nvSpPr>
        <p:spPr>
          <a:xfrm>
            <a:off x="4526280" y="3364992"/>
            <a:ext cx="3163824" cy="21031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Text: readable row data.</a:t>
            </a:r>
          </a:p>
          <a:p>
            <a:pPr>
              <a:spcAft>
                <a:spcPts val="1000"/>
              </a:spcAft>
              <a:defRPr sz="1700" b="0">
                <a:solidFill>
                  <a:srgbClr val="2A3140"/>
                </a:solidFill>
                <a:latin typeface="Aptos"/>
              </a:defRPr>
            </a:pPr>
            <a:r>
              <a:t>RCFile: binary column-oriented storage, using compression in this project.</a:t>
            </a:r>
          </a:p>
        </p:txBody>
      </p:sp>
      <p:sp>
        <p:nvSpPr>
          <p:cNvPr id="16" name="Rounded Rectangle 15"/>
          <p:cNvSpPr/>
          <p:nvPr/>
        </p:nvSpPr>
        <p:spPr>
          <a:xfrm>
            <a:off x="8101583" y="1901952"/>
            <a:ext cx="3538728" cy="361188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084832"/>
            <a:ext cx="3136392"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03 / BENCHMARK</a:t>
            </a:r>
          </a:p>
        </p:txBody>
      </p:sp>
      <p:sp>
        <p:nvSpPr>
          <p:cNvPr id="18" name="TextBox 17"/>
          <p:cNvSpPr txBox="1"/>
          <p:nvPr/>
        </p:nvSpPr>
        <p:spPr>
          <a:xfrm>
            <a:off x="8302752" y="2496312"/>
            <a:ext cx="3136392"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Same questions, checked answers</a:t>
            </a:r>
          </a:p>
        </p:txBody>
      </p:sp>
      <p:sp>
        <p:nvSpPr>
          <p:cNvPr id="19" name="TextBox 18"/>
          <p:cNvSpPr txBox="1"/>
          <p:nvPr/>
        </p:nvSpPr>
        <p:spPr>
          <a:xfrm>
            <a:off x="8302752" y="3364992"/>
            <a:ext cx="3136392" cy="210312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Run identical analytical queries. Verify matching answers; record query time and storage bytes.</a:t>
            </a:r>
          </a:p>
        </p:txBody>
      </p:sp>
      <p:sp>
        <p:nvSpPr>
          <p:cNvPr id="20" name="TextBox 19"/>
          <p:cNvSpPr txBox="1"/>
          <p:nvPr/>
        </p:nvSpPr>
        <p:spPr>
          <a:xfrm>
            <a:off x="685800" y="5760720"/>
            <a:ext cx="10881360" cy="365760"/>
          </a:xfrm>
          <a:prstGeom prst="rect">
            <a:avLst/>
          </a:prstGeom>
          <a:noFill/>
        </p:spPr>
        <p:txBody>
          <a:bodyPr wrap="square" lIns="18288" rIns="18288" tIns="27432" bIns="0">
            <a:spAutoFit/>
          </a:bodyPr>
          <a:lstStyle/>
          <a:p>
            <a:pPr>
              <a:spcAft>
                <a:spcPts val="1000"/>
              </a:spcAft>
              <a:defRPr sz="1700" b="0">
                <a:solidFill>
                  <a:srgbClr val="596678"/>
                </a:solidFill>
                <a:latin typeface="Aptos"/>
              </a:defRPr>
            </a:pPr>
            <a:r>
              <a:t>Tables are reused across query repetitions; storage is measured separately from query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TRACK B · PART 2</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A dashboard that makes the work visible</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07</a:t>
            </a:r>
          </a:p>
        </p:txBody>
      </p:sp>
      <p:sp>
        <p:nvSpPr>
          <p:cNvPr id="8" name="Rounded Rectangle 7"/>
          <p:cNvSpPr/>
          <p:nvPr/>
        </p:nvSpPr>
        <p:spPr>
          <a:xfrm>
            <a:off x="548640" y="1920240"/>
            <a:ext cx="3566160" cy="3520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03120"/>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RUN</a:t>
            </a:r>
          </a:p>
        </p:txBody>
      </p:sp>
      <p:sp>
        <p:nvSpPr>
          <p:cNvPr id="10" name="TextBox 9"/>
          <p:cNvSpPr txBox="1"/>
          <p:nvPr/>
        </p:nvSpPr>
        <p:spPr>
          <a:xfrm>
            <a:off x="749808" y="2514600"/>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Control the workflow</a:t>
            </a:r>
          </a:p>
        </p:txBody>
      </p:sp>
      <p:sp>
        <p:nvSpPr>
          <p:cNvPr id="11" name="TextBox 10"/>
          <p:cNvSpPr txBox="1"/>
          <p:nvPr/>
        </p:nvSpPr>
        <p:spPr>
          <a:xfrm>
            <a:off x="749808" y="3383280"/>
            <a:ext cx="3163824" cy="2011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Select a development size or full dataset. Follow stage progress and technical logs.</a:t>
            </a:r>
          </a:p>
        </p:txBody>
      </p:sp>
      <p:sp>
        <p:nvSpPr>
          <p:cNvPr id="12" name="Rounded Rectangle 11"/>
          <p:cNvSpPr/>
          <p:nvPr/>
        </p:nvSpPr>
        <p:spPr>
          <a:xfrm>
            <a:off x="4325112" y="1920240"/>
            <a:ext cx="3566160" cy="3520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103120"/>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VIEW</a:t>
            </a:r>
          </a:p>
        </p:txBody>
      </p:sp>
      <p:sp>
        <p:nvSpPr>
          <p:cNvPr id="14" name="TextBox 13"/>
          <p:cNvSpPr txBox="1"/>
          <p:nvPr/>
        </p:nvSpPr>
        <p:spPr>
          <a:xfrm>
            <a:off x="4526280" y="2514600"/>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Explain each theme</a:t>
            </a:r>
          </a:p>
        </p:txBody>
      </p:sp>
      <p:sp>
        <p:nvSpPr>
          <p:cNvPr id="15" name="TextBox 14"/>
          <p:cNvSpPr txBox="1"/>
          <p:nvPr/>
        </p:nvSpPr>
        <p:spPr>
          <a:xfrm>
            <a:off x="4526280" y="3383280"/>
            <a:ext cx="3163824" cy="2011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See raw MongoDB samples, aggregation answers, HDFS outputs and Hive comparisons.</a:t>
            </a:r>
          </a:p>
        </p:txBody>
      </p:sp>
      <p:sp>
        <p:nvSpPr>
          <p:cNvPr id="16" name="Rounded Rectangle 15"/>
          <p:cNvSpPr/>
          <p:nvPr/>
        </p:nvSpPr>
        <p:spPr>
          <a:xfrm>
            <a:off x="8101583" y="1920240"/>
            <a:ext cx="3538728" cy="352044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103120"/>
            <a:ext cx="3136392"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VERIFY</a:t>
            </a:r>
          </a:p>
        </p:txBody>
      </p:sp>
      <p:sp>
        <p:nvSpPr>
          <p:cNvPr id="18" name="TextBox 17"/>
          <p:cNvSpPr txBox="1"/>
          <p:nvPr/>
        </p:nvSpPr>
        <p:spPr>
          <a:xfrm>
            <a:off x="8302752" y="2514600"/>
            <a:ext cx="3136392"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Show the actual stored data</a:t>
            </a:r>
          </a:p>
        </p:txBody>
      </p:sp>
      <p:sp>
        <p:nvSpPr>
          <p:cNvPr id="19" name="TextBox 18"/>
          <p:cNvSpPr txBox="1"/>
          <p:nvPr/>
        </p:nvSpPr>
        <p:spPr>
          <a:xfrm>
            <a:off x="8302752" y="3383280"/>
            <a:ext cx="3136392" cy="2011680"/>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Copy the command beside a result. Run it in a second terminal with that service running.</a:t>
            </a:r>
          </a:p>
        </p:txBody>
      </p:sp>
      <p:sp>
        <p:nvSpPr>
          <p:cNvPr id="20" name="TextBox 19"/>
          <p:cNvSpPr txBox="1"/>
          <p:nvPr/>
        </p:nvSpPr>
        <p:spPr>
          <a:xfrm>
            <a:off x="685800" y="5715000"/>
            <a:ext cx="10881360" cy="411480"/>
          </a:xfrm>
          <a:prstGeom prst="rect">
            <a:avLst/>
          </a:prstGeom>
          <a:noFill/>
        </p:spPr>
        <p:txBody>
          <a:bodyPr wrap="square" lIns="18288" rIns="18288" tIns="27432" bIns="0">
            <a:spAutoFit/>
          </a:bodyPr>
          <a:lstStyle/>
          <a:p>
            <a:pPr>
              <a:spcAft>
                <a:spcPts val="1000"/>
              </a:spcAft>
              <a:defRPr sz="1700" b="0">
                <a:solidFill>
                  <a:srgbClr val="596678"/>
                </a:solidFill>
                <a:latin typeface="Aptos"/>
              </a:defRPr>
            </a:pPr>
            <a:r>
              <a:t>Saved results remain visible even when services are stopped. Live commands need the services running.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20040"/>
            <a:ext cx="73152" cy="201168"/>
          </a:xfrm>
          <a:prstGeom prst="rect">
            <a:avLst/>
          </a:prstGeom>
          <a:solidFill>
            <a:srgbClr val="194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65176"/>
            <a:ext cx="10058400" cy="27432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RECORDED RESULTS &amp; CONCLUSION</a:t>
            </a:r>
          </a:p>
        </p:txBody>
      </p:sp>
      <p:sp>
        <p:nvSpPr>
          <p:cNvPr id="4" name="TextBox 3"/>
          <p:cNvSpPr txBox="1"/>
          <p:nvPr/>
        </p:nvSpPr>
        <p:spPr>
          <a:xfrm>
            <a:off x="521207" y="777240"/>
            <a:ext cx="11064240" cy="914400"/>
          </a:xfrm>
          <a:prstGeom prst="rect">
            <a:avLst/>
          </a:prstGeom>
          <a:noFill/>
        </p:spPr>
        <p:txBody>
          <a:bodyPr wrap="square" lIns="18288" rIns="18288" tIns="27432" bIns="0">
            <a:spAutoFit/>
          </a:bodyPr>
          <a:lstStyle/>
          <a:p>
            <a:pPr>
              <a:spcAft>
                <a:spcPts val="1000"/>
              </a:spcAft>
              <a:defRPr sz="3000" b="1">
                <a:solidFill>
                  <a:srgbClr val="14284B"/>
                </a:solidFill>
                <a:latin typeface="Aptos"/>
              </a:defRPr>
            </a:pPr>
            <a:r>
              <a:t>50,000-food development run passed</a:t>
            </a:r>
          </a:p>
        </p:txBody>
      </p:sp>
      <p:sp>
        <p:nvSpPr>
          <p:cNvPr id="5" name="Rectangle 4"/>
          <p:cNvSpPr/>
          <p:nvPr/>
        </p:nvSpPr>
        <p:spPr>
          <a:xfrm>
            <a:off x="548640" y="6428232"/>
            <a:ext cx="11064240" cy="10972"/>
          </a:xfrm>
          <a:prstGeom prst="rect">
            <a:avLst/>
          </a:prstGeom>
          <a:solidFill>
            <a:srgbClr val="D8E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0058400" cy="228600"/>
          </a:xfrm>
          <a:prstGeom prst="rect">
            <a:avLst/>
          </a:prstGeom>
          <a:noFill/>
        </p:spPr>
        <p:txBody>
          <a:bodyPr wrap="square" lIns="18288" rIns="18288" tIns="27432" bIns="0">
            <a:spAutoFit/>
          </a:bodyPr>
          <a:lstStyle/>
          <a:p>
            <a:pPr>
              <a:spcAft>
                <a:spcPts val="1000"/>
              </a:spcAft>
              <a:defRPr sz="900" b="0">
                <a:solidFill>
                  <a:srgbClr val="596678"/>
                </a:solidFill>
                <a:latin typeface="Aptos"/>
              </a:defRPr>
            </a:pPr>
            <a:r>
              <a:t>USDA FOODDATA CENTRAL  /  BCS714D · TRACK B</a:t>
            </a:r>
          </a:p>
        </p:txBody>
      </p:sp>
      <p:sp>
        <p:nvSpPr>
          <p:cNvPr id="7" name="TextBox 6"/>
          <p:cNvSpPr txBox="1"/>
          <p:nvPr/>
        </p:nvSpPr>
        <p:spPr>
          <a:xfrm>
            <a:off x="10972800" y="6492240"/>
            <a:ext cx="594360" cy="228600"/>
          </a:xfrm>
          <a:prstGeom prst="rect">
            <a:avLst/>
          </a:prstGeom>
          <a:noFill/>
        </p:spPr>
        <p:txBody>
          <a:bodyPr wrap="square" lIns="18288" rIns="18288" tIns="27432" bIns="0">
            <a:spAutoFit/>
          </a:bodyPr>
          <a:lstStyle/>
          <a:p>
            <a:pPr algn="r">
              <a:spcAft>
                <a:spcPts val="1000"/>
              </a:spcAft>
              <a:defRPr sz="1000" b="1">
                <a:solidFill>
                  <a:srgbClr val="194F8E"/>
                </a:solidFill>
                <a:latin typeface="Aptos"/>
              </a:defRPr>
            </a:pPr>
            <a:r>
              <a:t>08</a:t>
            </a:r>
          </a:p>
        </p:txBody>
      </p:sp>
      <p:sp>
        <p:nvSpPr>
          <p:cNvPr id="8" name="Rounded Rectangle 7"/>
          <p:cNvSpPr/>
          <p:nvPr/>
        </p:nvSpPr>
        <p:spPr>
          <a:xfrm>
            <a:off x="548640" y="1901952"/>
            <a:ext cx="3566160" cy="233172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084832"/>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DATA PROCESSED</a:t>
            </a:r>
          </a:p>
        </p:txBody>
      </p:sp>
      <p:sp>
        <p:nvSpPr>
          <p:cNvPr id="10" name="TextBox 9"/>
          <p:cNvSpPr txBox="1"/>
          <p:nvPr/>
        </p:nvSpPr>
        <p:spPr>
          <a:xfrm>
            <a:off x="749808" y="2496312"/>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50,000 foods</a:t>
            </a:r>
          </a:p>
        </p:txBody>
      </p:sp>
      <p:sp>
        <p:nvSpPr>
          <p:cNvPr id="11" name="TextBox 10"/>
          <p:cNvSpPr txBox="1"/>
          <p:nvPr/>
        </p:nvSpPr>
        <p:spPr>
          <a:xfrm>
            <a:off x="749808" y="3364992"/>
            <a:ext cx="3163824" cy="822959"/>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1,126,928 linked nutrient records</a:t>
            </a:r>
          </a:p>
          <a:p>
            <a:pPr>
              <a:spcAft>
                <a:spcPts val="1000"/>
              </a:spcAft>
              <a:defRPr sz="1700" b="0">
                <a:solidFill>
                  <a:srgbClr val="2A3140"/>
                </a:solidFill>
                <a:latin typeface="Aptos"/>
              </a:defRPr>
            </a:pPr>
            <a:r>
              <a:t>477 nutrient definitions</a:t>
            </a:r>
          </a:p>
        </p:txBody>
      </p:sp>
      <p:sp>
        <p:nvSpPr>
          <p:cNvPr id="12" name="Rounded Rectangle 11"/>
          <p:cNvSpPr/>
          <p:nvPr/>
        </p:nvSpPr>
        <p:spPr>
          <a:xfrm>
            <a:off x="4325112" y="1901952"/>
            <a:ext cx="3566160" cy="233172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084832"/>
            <a:ext cx="3163824"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INDEX PROFILE</a:t>
            </a:r>
          </a:p>
        </p:txBody>
      </p:sp>
      <p:sp>
        <p:nvSpPr>
          <p:cNvPr id="14" name="TextBox 13"/>
          <p:cNvSpPr txBox="1"/>
          <p:nvPr/>
        </p:nvSpPr>
        <p:spPr>
          <a:xfrm>
            <a:off x="4526280" y="2496312"/>
            <a:ext cx="3163824"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50,000 → 1</a:t>
            </a:r>
          </a:p>
        </p:txBody>
      </p:sp>
      <p:sp>
        <p:nvSpPr>
          <p:cNvPr id="15" name="TextBox 14"/>
          <p:cNvSpPr txBox="1"/>
          <p:nvPr/>
        </p:nvSpPr>
        <p:spPr>
          <a:xfrm>
            <a:off x="4526280" y="3364992"/>
            <a:ext cx="3163824" cy="822959"/>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Documents examined for the same lookup: collection scan vs index.</a:t>
            </a:r>
          </a:p>
        </p:txBody>
      </p:sp>
      <p:sp>
        <p:nvSpPr>
          <p:cNvPr id="16" name="Rounded Rectangle 15"/>
          <p:cNvSpPr/>
          <p:nvPr/>
        </p:nvSpPr>
        <p:spPr>
          <a:xfrm>
            <a:off x="8101583" y="1901952"/>
            <a:ext cx="3538728" cy="2331720"/>
          </a:xfrm>
          <a:prstGeom prst="round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084832"/>
            <a:ext cx="3136392" cy="320040"/>
          </a:xfrm>
          <a:prstGeom prst="rect">
            <a:avLst/>
          </a:prstGeom>
          <a:noFill/>
        </p:spPr>
        <p:txBody>
          <a:bodyPr wrap="square" lIns="18288" rIns="18288" tIns="27432" bIns="0">
            <a:spAutoFit/>
          </a:bodyPr>
          <a:lstStyle/>
          <a:p>
            <a:pPr>
              <a:spcAft>
                <a:spcPts val="1000"/>
              </a:spcAft>
              <a:defRPr sz="1100" b="1">
                <a:solidFill>
                  <a:srgbClr val="194F8E"/>
                </a:solidFill>
                <a:latin typeface="Aptos"/>
              </a:defRPr>
            </a:pPr>
            <a:r>
              <a:t>CORRECTNESS</a:t>
            </a:r>
          </a:p>
        </p:txBody>
      </p:sp>
      <p:sp>
        <p:nvSpPr>
          <p:cNvPr id="18" name="TextBox 17"/>
          <p:cNvSpPr txBox="1"/>
          <p:nvPr/>
        </p:nvSpPr>
        <p:spPr>
          <a:xfrm>
            <a:off x="8302752" y="2496312"/>
            <a:ext cx="3136392" cy="594360"/>
          </a:xfrm>
          <a:prstGeom prst="rect">
            <a:avLst/>
          </a:prstGeom>
          <a:noFill/>
        </p:spPr>
        <p:txBody>
          <a:bodyPr wrap="square" lIns="18288" rIns="18288" tIns="27432" bIns="0">
            <a:spAutoFit/>
          </a:bodyPr>
          <a:lstStyle/>
          <a:p>
            <a:pPr>
              <a:spcAft>
                <a:spcPts val="1000"/>
              </a:spcAft>
              <a:defRPr sz="2200" b="1">
                <a:solidFill>
                  <a:srgbClr val="14284B"/>
                </a:solidFill>
                <a:latin typeface="Aptos"/>
              </a:defRPr>
            </a:pPr>
            <a:r>
              <a:t>Cross-system checks</a:t>
            </a:r>
          </a:p>
        </p:txBody>
      </p:sp>
      <p:sp>
        <p:nvSpPr>
          <p:cNvPr id="19" name="TextBox 18"/>
          <p:cNvSpPr txBox="1"/>
          <p:nvPr/>
        </p:nvSpPr>
        <p:spPr>
          <a:xfrm>
            <a:off x="8302752" y="3364992"/>
            <a:ext cx="3136392" cy="822959"/>
          </a:xfrm>
          <a:prstGeom prst="rect">
            <a:avLst/>
          </a:prstGeom>
          <a:noFill/>
        </p:spPr>
        <p:txBody>
          <a:bodyPr wrap="square" lIns="18288" rIns="18288" tIns="27432" bIns="0">
            <a:spAutoFit/>
          </a:bodyPr>
          <a:lstStyle/>
          <a:p>
            <a:pPr>
              <a:spcAft>
                <a:spcPts val="1000"/>
              </a:spcAft>
              <a:defRPr sz="1700" b="0">
                <a:solidFill>
                  <a:srgbClr val="2A3140"/>
                </a:solidFill>
                <a:latin typeface="Aptos"/>
              </a:defRPr>
            </a:pPr>
            <a:r>
              <a:t>Linked-subset answers passed reconciliation across the processing systems.</a:t>
            </a:r>
          </a:p>
        </p:txBody>
      </p:sp>
      <p:sp>
        <p:nvSpPr>
          <p:cNvPr id="20" name="TextBox 19"/>
          <p:cNvSpPr txBox="1"/>
          <p:nvPr/>
        </p:nvSpPr>
        <p:spPr>
          <a:xfrm>
            <a:off x="685800" y="4526280"/>
            <a:ext cx="10835640" cy="640080"/>
          </a:xfrm>
          <a:prstGeom prst="rect">
            <a:avLst/>
          </a:prstGeom>
          <a:noFill/>
        </p:spPr>
        <p:txBody>
          <a:bodyPr wrap="square" lIns="18288" rIns="18288" tIns="27432" bIns="0">
            <a:spAutoFit/>
          </a:bodyPr>
          <a:lstStyle/>
          <a:p>
            <a:pPr>
              <a:spcAft>
                <a:spcPts val="1000"/>
              </a:spcAft>
              <a:defRPr sz="2400" b="1">
                <a:solidFill>
                  <a:srgbClr val="14284B"/>
                </a:solidFill>
                <a:latin typeface="Aptos"/>
              </a:defRPr>
            </a:pPr>
            <a:r>
              <a:t>Outcome: a repeatable analytics workflow with visible results and measurable performance.</a:t>
            </a:r>
          </a:p>
        </p:txBody>
      </p:sp>
      <p:sp>
        <p:nvSpPr>
          <p:cNvPr id="21" name="TextBox 20"/>
          <p:cNvSpPr txBox="1"/>
          <p:nvPr/>
        </p:nvSpPr>
        <p:spPr>
          <a:xfrm>
            <a:off x="685800" y="5440680"/>
            <a:ext cx="10835640" cy="548640"/>
          </a:xfrm>
          <a:prstGeom prst="rect">
            <a:avLst/>
          </a:prstGeom>
          <a:noFill/>
        </p:spPr>
        <p:txBody>
          <a:bodyPr wrap="square" lIns="18288" rIns="18288" tIns="27432" bIns="0">
            <a:spAutoFit/>
          </a:bodyPr>
          <a:lstStyle/>
          <a:p>
            <a:pPr>
              <a:spcAft>
                <a:spcPts val="1000"/>
              </a:spcAft>
              <a:defRPr sz="1700" b="0">
                <a:solidFill>
                  <a:srgbClr val="596678"/>
                </a:solidFill>
                <a:latin typeface="Aptos"/>
              </a:defRPr>
            </a:pPr>
            <a:r>
              <a:t>Scope: tested on one laptop with Docker workers; full-release analytics and the physical lab run are separate.</a:t>
            </a:r>
          </a:p>
        </p:txBody>
      </p:sp>
      <p:sp>
        <p:nvSpPr>
          <p:cNvPr id="22" name="TextBox 21"/>
          <p:cNvSpPr txBox="1"/>
          <p:nvPr/>
        </p:nvSpPr>
        <p:spPr>
          <a:xfrm>
            <a:off x="685800" y="6035040"/>
            <a:ext cx="10835640" cy="228600"/>
          </a:xfrm>
          <a:prstGeom prst="rect">
            <a:avLst/>
          </a:prstGeom>
          <a:noFill/>
        </p:spPr>
        <p:txBody>
          <a:bodyPr wrap="square" lIns="18288" rIns="18288" tIns="27432" bIns="0">
            <a:spAutoFit/>
          </a:bodyPr>
          <a:lstStyle/>
          <a:p>
            <a:pPr>
              <a:spcAft>
                <a:spcPts val="1000"/>
              </a:spcAft>
              <a:defRPr sz="1100" b="0">
                <a:solidFill>
                  <a:srgbClr val="194F8E"/>
                </a:solidFill>
                <a:latin typeface="Aptos"/>
              </a:defRPr>
            </a:pPr>
            <a:r>
              <a:t>Source: fdc.nal.usda.gov/download-datasets/  ·  Code: github.com/Dhanush-singh-g/BDA-Assignment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USDA FoodData Central — Big Data Analytics</dc:title>
  <dc:subject>BCS714D Track B presentation</dc:subject>
  <dc:creator>Abhishek R; Adithya V; Dhanush Singh 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