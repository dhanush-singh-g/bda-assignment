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uses real food data from USDA. We store it, calculate nutrient summaries with different tools, and compare both the answers and the performance. The dashboard brings the evidence together for the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example, a protein value is not useful without knowing the food, the nutrient name and its unit. Our first job is to link those records. Then we can ask how many foods belong to each type, or what the average recorded protein amount is in a group.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WESSON product as a real food-name example from the source. The slide does not invent a nutrient amount for that product. Nutrient ID 1003 means protein; the nutrient table supplies that name and unit. Fifty thousand foods is not fifty thousand nutrient rows, because each food has many linked observations.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we store the CSV records in MongoDB. For the development run, the selected foods and every linked nutrient record are exported and prepared for Hadoop. MapReduce calculates summaries. Separately, Pig cleans the prepared HDFS data and Hive compares two ways of storing it. The branches are reconciled and shown in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describe these as unrelated mini projects. All three themes use the same linked dataset. In MongoDB we show before and after aggregation. In Hadoop we show uploaded files and MapReduce results. In Pig and Hive we show cleaned records, equal query answers, timings and file sizes.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query returns one result in either plan. Without the index MongoDB examines fifty thousand documents; with the index it examines one. This is direct evidence of reduced search work. Do not claim a universal speedup or invent Hive timing values: open the saved dashboard run to show the actual measurements.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dashboard here. Select the successful fifty-thousand-food run. Start with raw data, then show calculated answers. Use one copied MongoDB command to demonstrate that the data exists in the database. Switch services only after analysis has finished; Hadoop commands require Hadoop running.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that the contribution is the complete, checkable workflow, not just a nutrient average. It connects ingestion, distributed processing, correctness checks, performance measurements and presentation. The successful test used three Docker containers on one laptop. The separate three-physical-system deployment remains the lab execution route.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20040"/>
            <a:ext cx="73152" cy="201168"/>
          </a:xfrm>
          <a:prstGeom prst="rect">
            <a:avLst/>
          </a:prstGeom>
          <a:solidFill>
            <a:srgbClr val="194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65176"/>
            <a:ext cx="10058400" cy="274320"/>
          </a:xfrm>
          <a:prstGeom prst="rect">
            <a:avLst/>
          </a:prstGeom>
          <a:noFill/>
        </p:spPr>
        <p:txBody>
          <a:bodyPr wrap="square" lIns="18288" rIns="18288" tIns="27432" bIns="0">
            <a:spAutoFit/>
          </a:bodyPr>
          <a:lstStyle/>
          <a:p>
            <a:pPr>
              <a:spcAft>
                <a:spcPts val="1000"/>
              </a:spcAft>
              <a:defRPr sz="1100" b="1">
                <a:solidFill>
                  <a:srgbClr val="194F8E"/>
                </a:solidFill>
                <a:latin typeface="Aptos"/>
              </a:defRPr>
            </a:pPr>
            <a:r>
              <a:t>BCS714D · BIG DATA ANALYTICS · TRACK B</a:t>
            </a:r>
          </a:p>
        </p:txBody>
      </p:sp>
      <p:sp>
        <p:nvSpPr>
          <p:cNvPr id="4" name="TextBox 3"/>
          <p:cNvSpPr txBox="1"/>
          <p:nvPr/>
        </p:nvSpPr>
        <p:spPr>
          <a:xfrm>
            <a:off x="521207" y="777240"/>
            <a:ext cx="11064240" cy="914400"/>
          </a:xfrm>
          <a:prstGeom prst="rect">
            <a:avLst/>
          </a:prstGeom>
          <a:noFill/>
        </p:spPr>
        <p:txBody>
          <a:bodyPr wrap="square" lIns="18288" rIns="18288" tIns="27432" bIns="0">
            <a:spAutoFit/>
          </a:bodyPr>
          <a:lstStyle/>
          <a:p>
            <a:pPr>
              <a:spcAft>
                <a:spcPts val="1000"/>
              </a:spcAft>
              <a:defRPr sz="3000" b="1">
                <a:solidFill>
                  <a:srgbClr val="14284B"/>
                </a:solidFill>
                <a:latin typeface="Aptos"/>
              </a:defRPr>
            </a:pPr>
            <a:r>
              <a:t>Food &amp; Nutrient Analytics</a:t>
            </a:r>
          </a:p>
        </p:txBody>
      </p:sp>
      <p:sp>
        <p:nvSpPr>
          <p:cNvPr id="5" name="Rectangle 4"/>
          <p:cNvSpPr/>
          <p:nvPr/>
        </p:nvSpPr>
        <p:spPr>
          <a:xfrm>
            <a:off x="548640" y="6428232"/>
            <a:ext cx="11064240" cy="10972"/>
          </a:xfrm>
          <a:prstGeom prst="rect">
            <a:avLst/>
          </a:prstGeom>
          <a:solidFill>
            <a:srgbClr val="D8E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058400" cy="228600"/>
          </a:xfrm>
          <a:prstGeom prst="rect">
            <a:avLst/>
          </a:prstGeom>
          <a:noFill/>
        </p:spPr>
        <p:txBody>
          <a:bodyPr wrap="square" lIns="18288" rIns="18288" tIns="27432" bIns="0">
            <a:spAutoFit/>
          </a:bodyPr>
          <a:lstStyle/>
          <a:p>
            <a:pPr>
              <a:spcAft>
                <a:spcPts val="1000"/>
              </a:spcAft>
              <a:defRPr sz="900" b="0">
                <a:solidFill>
                  <a:srgbClr val="596678"/>
                </a:solidFill>
                <a:latin typeface="Aptos"/>
              </a:defRPr>
            </a:pPr>
            <a:r>
              <a:t>USDA FOODDATA CENTRAL  /  BCS714D · TRACK B</a:t>
            </a:r>
          </a:p>
        </p:txBody>
      </p:sp>
      <p:sp>
        <p:nvSpPr>
          <p:cNvPr id="7" name="TextBox 6"/>
          <p:cNvSpPr txBox="1"/>
          <p:nvPr/>
        </p:nvSpPr>
        <p:spPr>
          <a:xfrm>
            <a:off x="10972800" y="6492240"/>
            <a:ext cx="594360" cy="228600"/>
          </a:xfrm>
          <a:prstGeom prst="rect">
            <a:avLst/>
          </a:prstGeom>
          <a:noFill/>
        </p:spPr>
        <p:txBody>
          <a:bodyPr wrap="square" lIns="18288" rIns="18288" tIns="27432" bIns="0">
            <a:spAutoFit/>
          </a:bodyPr>
          <a:lstStyle/>
          <a:p>
            <a:pPr algn="r">
              <a:spcAft>
                <a:spcPts val="1000"/>
              </a:spcAft>
              <a:defRPr sz="1000" b="1">
                <a:solidFill>
                  <a:srgbClr val="194F8E"/>
                </a:solidFill>
                <a:latin typeface="Aptos"/>
              </a:defRPr>
            </a:pPr>
            <a:r>
              <a:t>01</a:t>
            </a:r>
          </a:p>
        </p:txBody>
      </p:sp>
      <p:sp>
        <p:nvSpPr>
          <p:cNvPr id="8" name="TextBox 7"/>
          <p:cNvSpPr txBox="1"/>
          <p:nvPr/>
        </p:nvSpPr>
        <p:spPr>
          <a:xfrm>
            <a:off x="594360" y="1828800"/>
            <a:ext cx="7772400" cy="960120"/>
          </a:xfrm>
          <a:prstGeom prst="rect">
            <a:avLst/>
          </a:prstGeom>
          <a:noFill/>
        </p:spPr>
        <p:txBody>
          <a:bodyPr wrap="square" lIns="18288" rIns="18288" tIns="27432" bIns="0">
            <a:spAutoFit/>
          </a:bodyPr>
          <a:lstStyle/>
          <a:p>
            <a:pPr>
              <a:spcAft>
                <a:spcPts val="1000"/>
              </a:spcAft>
              <a:defRPr sz="3000" b="1">
                <a:solidFill>
                  <a:srgbClr val="194F8E"/>
                </a:solidFill>
                <a:latin typeface="Aptos"/>
              </a:defRPr>
            </a:pPr>
            <a:r>
              <a:t>Using USDA FoodData Central</a:t>
            </a:r>
          </a:p>
        </p:txBody>
      </p:sp>
      <p:sp>
        <p:nvSpPr>
          <p:cNvPr id="9" name="TextBox 8"/>
          <p:cNvSpPr txBox="1"/>
          <p:nvPr/>
        </p:nvSpPr>
        <p:spPr>
          <a:xfrm>
            <a:off x="594360" y="2788920"/>
            <a:ext cx="7406640" cy="822960"/>
          </a:xfrm>
          <a:prstGeom prst="rect">
            <a:avLst/>
          </a:prstGeom>
          <a:noFill/>
        </p:spPr>
        <p:txBody>
          <a:bodyPr wrap="square" lIns="18288" rIns="18288" tIns="27432" bIns="0">
            <a:spAutoFit/>
          </a:bodyPr>
          <a:lstStyle/>
          <a:p>
            <a:pPr>
              <a:spcAft>
                <a:spcPts val="1000"/>
              </a:spcAft>
              <a:defRPr sz="2200" b="0">
                <a:solidFill>
                  <a:srgbClr val="2A3140"/>
                </a:solidFill>
                <a:latin typeface="Aptos"/>
              </a:defRPr>
            </a:pPr>
            <a:r>
              <a:t>Processing food data across MongoDB and Hadoop,</a:t>
            </a:r>
          </a:p>
          <a:p>
            <a:pPr>
              <a:spcAft>
                <a:spcPts val="1000"/>
              </a:spcAft>
              <a:defRPr sz="2200" b="0">
                <a:solidFill>
                  <a:srgbClr val="2A3140"/>
                </a:solidFill>
                <a:latin typeface="Aptos"/>
              </a:defRPr>
            </a:pPr>
            <a:r>
              <a:t>then comparing the results and performance.</a:t>
            </a:r>
          </a:p>
        </p:txBody>
      </p:sp>
      <p:sp>
        <p:nvSpPr>
          <p:cNvPr id="10" name="Rectangle 9"/>
          <p:cNvSpPr/>
          <p:nvPr/>
        </p:nvSpPr>
        <p:spPr>
          <a:xfrm>
            <a:off x="594360" y="3904487"/>
            <a:ext cx="7040880" cy="18288"/>
          </a:xfrm>
          <a:prstGeom prst="rect">
            <a:avLst/>
          </a:prstGeom>
          <a:solidFill>
            <a:srgbClr val="D8E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206240"/>
            <a:ext cx="7132320" cy="1371600"/>
          </a:xfrm>
          <a:prstGeom prst="rect">
            <a:avLst/>
          </a:prstGeom>
          <a:noFill/>
        </p:spPr>
        <p:txBody>
          <a:bodyPr wrap="square" lIns="18288" rIns="18288" tIns="27432" bIns="0">
            <a:spAutoFit/>
          </a:bodyPr>
          <a:lstStyle/>
          <a:p>
            <a:pPr>
              <a:spcAft>
                <a:spcPts val="1000"/>
              </a:spcAft>
              <a:defRPr sz="1900" b="0">
                <a:solidFill>
                  <a:srgbClr val="2A3140"/>
                </a:solidFill>
                <a:latin typeface="Aptos"/>
              </a:defRPr>
            </a:pPr>
            <a:r>
              <a:t>Abhishek R   ·   1JS23CS004</a:t>
            </a:r>
          </a:p>
          <a:p>
            <a:pPr>
              <a:spcAft>
                <a:spcPts val="1000"/>
              </a:spcAft>
              <a:defRPr sz="1900" b="0">
                <a:solidFill>
                  <a:srgbClr val="2A3140"/>
                </a:solidFill>
                <a:latin typeface="Aptos"/>
              </a:defRPr>
            </a:pPr>
            <a:r>
              <a:t>Adithya V   ·   1JS23CS005</a:t>
            </a:r>
          </a:p>
          <a:p>
            <a:pPr>
              <a:spcAft>
                <a:spcPts val="1000"/>
              </a:spcAft>
              <a:defRPr sz="1900" b="0">
                <a:solidFill>
                  <a:srgbClr val="2A3140"/>
                </a:solidFill>
                <a:latin typeface="Aptos"/>
              </a:defRPr>
            </a:pPr>
            <a:r>
              <a:t>Dhanush Singh G   ·   1JS23CS048</a:t>
            </a:r>
          </a:p>
        </p:txBody>
      </p:sp>
      <p:sp>
        <p:nvSpPr>
          <p:cNvPr id="12" name="TextBox 11"/>
          <p:cNvSpPr txBox="1"/>
          <p:nvPr/>
        </p:nvSpPr>
        <p:spPr>
          <a:xfrm>
            <a:off x="594360" y="5623560"/>
            <a:ext cx="8229600" cy="548640"/>
          </a:xfrm>
          <a:prstGeom prst="rect">
            <a:avLst/>
          </a:prstGeom>
          <a:noFill/>
        </p:spPr>
        <p:txBody>
          <a:bodyPr wrap="square" lIns="18288" rIns="18288" tIns="27432" bIns="0">
            <a:spAutoFit/>
          </a:bodyPr>
          <a:lstStyle/>
          <a:p>
            <a:pPr>
              <a:spcAft>
                <a:spcPts val="1000"/>
              </a:spcAft>
              <a:defRPr sz="1500" b="0">
                <a:solidFill>
                  <a:srgbClr val="596678"/>
                </a:solidFill>
                <a:latin typeface="Aptos"/>
              </a:defRPr>
            </a:pPr>
            <a:r>
              <a:t>Guide: Sandhiya B  |  JSS Academy of Technical Education, CSE</a:t>
            </a:r>
          </a:p>
          <a:p>
            <a:pPr>
              <a:spcAft>
                <a:spcPts val="1000"/>
              </a:spcAft>
              <a:defRPr sz="1500" b="0">
                <a:solidFill>
                  <a:srgbClr val="596678"/>
                </a:solidFill>
                <a:latin typeface="Aptos"/>
              </a:defRPr>
            </a:pPr>
            <a:r>
              <a:t>Academic year 2026–2027</a:t>
            </a:r>
          </a:p>
        </p:txBody>
      </p:sp>
      <p:sp>
        <p:nvSpPr>
          <p:cNvPr id="13" name="Rectangle 12"/>
          <p:cNvSpPr/>
          <p:nvPr/>
        </p:nvSpPr>
        <p:spPr>
          <a:xfrm>
            <a:off x="8869680" y="1847088"/>
            <a:ext cx="2697480" cy="3977639"/>
          </a:xfrm>
          <a:prstGeom prst="rect">
            <a:avLst/>
          </a:prstGeom>
          <a:solidFill>
            <a:srgbClr val="14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0" y="2194560"/>
            <a:ext cx="2103120" cy="457200"/>
          </a:xfrm>
          <a:prstGeom prst="rect">
            <a:avLst/>
          </a:prstGeom>
          <a:noFill/>
        </p:spPr>
        <p:txBody>
          <a:bodyPr wrap="square" lIns="18288" rIns="18288" tIns="27432" bIns="0">
            <a:spAutoFit/>
          </a:bodyPr>
          <a:lstStyle/>
          <a:p>
            <a:pPr>
              <a:spcAft>
                <a:spcPts val="1000"/>
              </a:spcAft>
              <a:defRPr sz="1200" b="1">
                <a:solidFill>
                  <a:srgbClr val="FFFFFF"/>
                </a:solidFill>
                <a:latin typeface="Aptos"/>
              </a:defRPr>
            </a:pPr>
            <a:r>
              <a:t>THE PROJECT</a:t>
            </a:r>
          </a:p>
        </p:txBody>
      </p:sp>
      <p:sp>
        <p:nvSpPr>
          <p:cNvPr id="15" name="TextBox 14"/>
          <p:cNvSpPr txBox="1"/>
          <p:nvPr/>
        </p:nvSpPr>
        <p:spPr>
          <a:xfrm>
            <a:off x="9144000" y="2788920"/>
            <a:ext cx="548640" cy="365760"/>
          </a:xfrm>
          <a:prstGeom prst="rect">
            <a:avLst/>
          </a:prstGeom>
          <a:noFill/>
        </p:spPr>
        <p:txBody>
          <a:bodyPr wrap="square" lIns="18288" rIns="18288" tIns="27432" bIns="0">
            <a:spAutoFit/>
          </a:bodyPr>
          <a:lstStyle/>
          <a:p>
            <a:pPr>
              <a:spcAft>
                <a:spcPts val="1000"/>
              </a:spcAft>
              <a:defRPr sz="1400" b="1">
                <a:solidFill>
                  <a:srgbClr val="A8C7EB"/>
                </a:solidFill>
                <a:latin typeface="Aptos"/>
              </a:defRPr>
            </a:pPr>
            <a:r>
              <a:t>01</a:t>
            </a:r>
          </a:p>
        </p:txBody>
      </p:sp>
      <p:sp>
        <p:nvSpPr>
          <p:cNvPr id="16" name="TextBox 15"/>
          <p:cNvSpPr txBox="1"/>
          <p:nvPr/>
        </p:nvSpPr>
        <p:spPr>
          <a:xfrm>
            <a:off x="9738360" y="2788920"/>
            <a:ext cx="1691640" cy="548640"/>
          </a:xfrm>
          <a:prstGeom prst="rect">
            <a:avLst/>
          </a:prstGeom>
          <a:noFill/>
        </p:spPr>
        <p:txBody>
          <a:bodyPr wrap="square" lIns="18288" rIns="18288" tIns="27432" bIns="0">
            <a:spAutoFit/>
          </a:bodyPr>
          <a:lstStyle/>
          <a:p>
            <a:pPr>
              <a:spcAft>
                <a:spcPts val="1000"/>
              </a:spcAft>
              <a:defRPr sz="2200" b="1">
                <a:solidFill>
                  <a:srgbClr val="FFFFFF"/>
                </a:solidFill>
                <a:latin typeface="Aptos"/>
              </a:defRPr>
            </a:pPr>
            <a:r>
              <a:t>Store</a:t>
            </a:r>
          </a:p>
        </p:txBody>
      </p:sp>
      <p:sp>
        <p:nvSpPr>
          <p:cNvPr id="17" name="TextBox 16"/>
          <p:cNvSpPr txBox="1"/>
          <p:nvPr/>
        </p:nvSpPr>
        <p:spPr>
          <a:xfrm>
            <a:off x="9144000" y="3703320"/>
            <a:ext cx="548640" cy="365760"/>
          </a:xfrm>
          <a:prstGeom prst="rect">
            <a:avLst/>
          </a:prstGeom>
          <a:noFill/>
        </p:spPr>
        <p:txBody>
          <a:bodyPr wrap="square" lIns="18288" rIns="18288" tIns="27432" bIns="0">
            <a:spAutoFit/>
          </a:bodyPr>
          <a:lstStyle/>
          <a:p>
            <a:pPr>
              <a:spcAft>
                <a:spcPts val="1000"/>
              </a:spcAft>
              <a:defRPr sz="1400" b="1">
                <a:solidFill>
                  <a:srgbClr val="A8C7EB"/>
                </a:solidFill>
                <a:latin typeface="Aptos"/>
              </a:defRPr>
            </a:pPr>
            <a:r>
              <a:t>02</a:t>
            </a:r>
          </a:p>
        </p:txBody>
      </p:sp>
      <p:sp>
        <p:nvSpPr>
          <p:cNvPr id="18" name="TextBox 17"/>
          <p:cNvSpPr txBox="1"/>
          <p:nvPr/>
        </p:nvSpPr>
        <p:spPr>
          <a:xfrm>
            <a:off x="9738360" y="3703320"/>
            <a:ext cx="1691640" cy="548640"/>
          </a:xfrm>
          <a:prstGeom prst="rect">
            <a:avLst/>
          </a:prstGeom>
          <a:noFill/>
        </p:spPr>
        <p:txBody>
          <a:bodyPr wrap="square" lIns="18288" rIns="18288" tIns="27432" bIns="0">
            <a:spAutoFit/>
          </a:bodyPr>
          <a:lstStyle/>
          <a:p>
            <a:pPr>
              <a:spcAft>
                <a:spcPts val="1000"/>
              </a:spcAft>
              <a:defRPr sz="2200" b="1">
                <a:solidFill>
                  <a:srgbClr val="FFFFFF"/>
                </a:solidFill>
                <a:latin typeface="Aptos"/>
              </a:defRPr>
            </a:pPr>
            <a:r>
              <a:t>Analyse</a:t>
            </a:r>
          </a:p>
        </p:txBody>
      </p:sp>
      <p:sp>
        <p:nvSpPr>
          <p:cNvPr id="19" name="TextBox 18"/>
          <p:cNvSpPr txBox="1"/>
          <p:nvPr/>
        </p:nvSpPr>
        <p:spPr>
          <a:xfrm>
            <a:off x="9144000" y="4617720"/>
            <a:ext cx="548640" cy="365760"/>
          </a:xfrm>
          <a:prstGeom prst="rect">
            <a:avLst/>
          </a:prstGeom>
          <a:noFill/>
        </p:spPr>
        <p:txBody>
          <a:bodyPr wrap="square" lIns="18288" rIns="18288" tIns="27432" bIns="0">
            <a:spAutoFit/>
          </a:bodyPr>
          <a:lstStyle/>
          <a:p>
            <a:pPr>
              <a:spcAft>
                <a:spcPts val="1000"/>
              </a:spcAft>
              <a:defRPr sz="1400" b="1">
                <a:solidFill>
                  <a:srgbClr val="A8C7EB"/>
                </a:solidFill>
                <a:latin typeface="Aptos"/>
              </a:defRPr>
            </a:pPr>
            <a:r>
              <a:t>03</a:t>
            </a:r>
          </a:p>
        </p:txBody>
      </p:sp>
      <p:sp>
        <p:nvSpPr>
          <p:cNvPr id="20" name="TextBox 19"/>
          <p:cNvSpPr txBox="1"/>
          <p:nvPr/>
        </p:nvSpPr>
        <p:spPr>
          <a:xfrm>
            <a:off x="9738360" y="4617720"/>
            <a:ext cx="1691640" cy="548640"/>
          </a:xfrm>
          <a:prstGeom prst="rect">
            <a:avLst/>
          </a:prstGeom>
          <a:noFill/>
        </p:spPr>
        <p:txBody>
          <a:bodyPr wrap="square" lIns="18288" rIns="18288" tIns="27432" bIns="0">
            <a:spAutoFit/>
          </a:bodyPr>
          <a:lstStyle/>
          <a:p>
            <a:pPr>
              <a:spcAft>
                <a:spcPts val="1000"/>
              </a:spcAft>
              <a:defRPr sz="2200" b="1">
                <a:solidFill>
                  <a:srgbClr val="FFFFFF"/>
                </a:solidFill>
                <a:latin typeface="Aptos"/>
              </a:defRPr>
            </a:pPr>
            <a:r>
              <a:t>Compare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20040"/>
            <a:ext cx="73152" cy="201168"/>
          </a:xfrm>
          <a:prstGeom prst="rect">
            <a:avLst/>
          </a:prstGeom>
          <a:solidFill>
            <a:srgbClr val="194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65176"/>
            <a:ext cx="10058400" cy="274320"/>
          </a:xfrm>
          <a:prstGeom prst="rect">
            <a:avLst/>
          </a:prstGeom>
          <a:noFill/>
        </p:spPr>
        <p:txBody>
          <a:bodyPr wrap="square" lIns="18288" rIns="18288" tIns="27432" bIns="0">
            <a:spAutoFit/>
          </a:bodyPr>
          <a:lstStyle/>
          <a:p>
            <a:pPr>
              <a:spcAft>
                <a:spcPts val="1000"/>
              </a:spcAft>
              <a:defRPr sz="1100" b="1">
                <a:solidFill>
                  <a:srgbClr val="194F8E"/>
                </a:solidFill>
                <a:latin typeface="Aptos"/>
              </a:defRPr>
            </a:pPr>
            <a:r>
              <a:t>PROBLEM STATEMENT &amp; OBJECTIVES</a:t>
            </a:r>
          </a:p>
        </p:txBody>
      </p:sp>
      <p:sp>
        <p:nvSpPr>
          <p:cNvPr id="4" name="TextBox 3"/>
          <p:cNvSpPr txBox="1"/>
          <p:nvPr/>
        </p:nvSpPr>
        <p:spPr>
          <a:xfrm>
            <a:off x="521207" y="777240"/>
            <a:ext cx="11064240" cy="914400"/>
          </a:xfrm>
          <a:prstGeom prst="rect">
            <a:avLst/>
          </a:prstGeom>
          <a:noFill/>
        </p:spPr>
        <p:txBody>
          <a:bodyPr wrap="square" lIns="18288" rIns="18288" tIns="27432" bIns="0">
            <a:spAutoFit/>
          </a:bodyPr>
          <a:lstStyle/>
          <a:p>
            <a:pPr>
              <a:spcAft>
                <a:spcPts val="1000"/>
              </a:spcAft>
              <a:defRPr sz="3000" b="1">
                <a:solidFill>
                  <a:srgbClr val="14284B"/>
                </a:solidFill>
                <a:latin typeface="Aptos"/>
              </a:defRPr>
            </a:pPr>
            <a:r>
              <a:t>The data is large, and the facts are split across files</a:t>
            </a:r>
          </a:p>
        </p:txBody>
      </p:sp>
      <p:sp>
        <p:nvSpPr>
          <p:cNvPr id="5" name="Rectangle 4"/>
          <p:cNvSpPr/>
          <p:nvPr/>
        </p:nvSpPr>
        <p:spPr>
          <a:xfrm>
            <a:off x="548640" y="6428232"/>
            <a:ext cx="11064240" cy="10972"/>
          </a:xfrm>
          <a:prstGeom prst="rect">
            <a:avLst/>
          </a:prstGeom>
          <a:solidFill>
            <a:srgbClr val="D8E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058400" cy="228600"/>
          </a:xfrm>
          <a:prstGeom prst="rect">
            <a:avLst/>
          </a:prstGeom>
          <a:noFill/>
        </p:spPr>
        <p:txBody>
          <a:bodyPr wrap="square" lIns="18288" rIns="18288" tIns="27432" bIns="0">
            <a:spAutoFit/>
          </a:bodyPr>
          <a:lstStyle/>
          <a:p>
            <a:pPr>
              <a:spcAft>
                <a:spcPts val="1000"/>
              </a:spcAft>
              <a:defRPr sz="900" b="0">
                <a:solidFill>
                  <a:srgbClr val="596678"/>
                </a:solidFill>
                <a:latin typeface="Aptos"/>
              </a:defRPr>
            </a:pPr>
            <a:r>
              <a:t>USDA FOODDATA CENTRAL  /  BCS714D · TRACK B</a:t>
            </a:r>
          </a:p>
        </p:txBody>
      </p:sp>
      <p:sp>
        <p:nvSpPr>
          <p:cNvPr id="7" name="TextBox 6"/>
          <p:cNvSpPr txBox="1"/>
          <p:nvPr/>
        </p:nvSpPr>
        <p:spPr>
          <a:xfrm>
            <a:off x="10972800" y="6492240"/>
            <a:ext cx="594360" cy="228600"/>
          </a:xfrm>
          <a:prstGeom prst="rect">
            <a:avLst/>
          </a:prstGeom>
          <a:noFill/>
        </p:spPr>
        <p:txBody>
          <a:bodyPr wrap="square" lIns="18288" rIns="18288" tIns="27432" bIns="0">
            <a:spAutoFit/>
          </a:bodyPr>
          <a:lstStyle/>
          <a:p>
            <a:pPr algn="r">
              <a:spcAft>
                <a:spcPts val="1000"/>
              </a:spcAft>
              <a:defRPr sz="1000" b="1">
                <a:solidFill>
                  <a:srgbClr val="194F8E"/>
                </a:solidFill>
                <a:latin typeface="Aptos"/>
              </a:defRPr>
            </a:pPr>
            <a:r>
              <a:t>02</a:t>
            </a:r>
          </a:p>
        </p:txBody>
      </p:sp>
      <p:sp>
        <p:nvSpPr>
          <p:cNvPr id="8" name="TextBox 7"/>
          <p:cNvSpPr txBox="1"/>
          <p:nvPr/>
        </p:nvSpPr>
        <p:spPr>
          <a:xfrm>
            <a:off x="594360" y="1783080"/>
            <a:ext cx="10789920" cy="822960"/>
          </a:xfrm>
          <a:prstGeom prst="rect">
            <a:avLst/>
          </a:prstGeom>
          <a:noFill/>
        </p:spPr>
        <p:txBody>
          <a:bodyPr wrap="square" lIns="18288" rIns="18288" tIns="27432" bIns="0">
            <a:spAutoFit/>
          </a:bodyPr>
          <a:lstStyle/>
          <a:p>
            <a:pPr>
              <a:spcAft>
                <a:spcPts val="1000"/>
              </a:spcAft>
              <a:defRPr sz="2300" b="0">
                <a:solidFill>
                  <a:srgbClr val="2A3140"/>
                </a:solidFill>
                <a:latin typeface="Aptos"/>
              </a:defRPr>
            </a:pPr>
            <a:r>
              <a:t>A food name, its nutrient amounts and the nutrient definitions are stored separately. We need to connect them before answering useful questions.</a:t>
            </a:r>
          </a:p>
        </p:txBody>
      </p:sp>
      <p:sp>
        <p:nvSpPr>
          <p:cNvPr id="9" name="TextBox 8"/>
          <p:cNvSpPr txBox="1"/>
          <p:nvPr/>
        </p:nvSpPr>
        <p:spPr>
          <a:xfrm>
            <a:off x="594360" y="2926080"/>
            <a:ext cx="594360" cy="594360"/>
          </a:xfrm>
          <a:prstGeom prst="rect">
            <a:avLst/>
          </a:prstGeom>
          <a:noFill/>
        </p:spPr>
        <p:txBody>
          <a:bodyPr wrap="square" lIns="18288" rIns="18288" tIns="27432" bIns="0">
            <a:spAutoFit/>
          </a:bodyPr>
          <a:lstStyle/>
          <a:p>
            <a:pPr>
              <a:spcAft>
                <a:spcPts val="1000"/>
              </a:spcAft>
              <a:defRPr sz="2700" b="1">
                <a:solidFill>
                  <a:srgbClr val="194F8E"/>
                </a:solidFill>
                <a:latin typeface="Aptos"/>
              </a:defRPr>
            </a:pPr>
            <a:r>
              <a:t>01</a:t>
            </a:r>
          </a:p>
        </p:txBody>
      </p:sp>
      <p:sp>
        <p:nvSpPr>
          <p:cNvPr id="10" name="TextBox 9"/>
          <p:cNvSpPr txBox="1"/>
          <p:nvPr/>
        </p:nvSpPr>
        <p:spPr>
          <a:xfrm>
            <a:off x="1371600" y="2926080"/>
            <a:ext cx="9875520" cy="457200"/>
          </a:xfrm>
          <a:prstGeom prst="rect">
            <a:avLst/>
          </a:prstGeom>
          <a:noFill/>
        </p:spPr>
        <p:txBody>
          <a:bodyPr wrap="square" lIns="18288" rIns="18288" tIns="27432" bIns="0">
            <a:spAutoFit/>
          </a:bodyPr>
          <a:lstStyle/>
          <a:p>
            <a:pPr>
              <a:spcAft>
                <a:spcPts val="1000"/>
              </a:spcAft>
              <a:defRPr sz="2400" b="1">
                <a:solidFill>
                  <a:srgbClr val="14284B"/>
                </a:solidFill>
                <a:latin typeface="Aptos"/>
              </a:defRPr>
            </a:pPr>
            <a:r>
              <a:t>Organise the records</a:t>
            </a:r>
          </a:p>
        </p:txBody>
      </p:sp>
      <p:sp>
        <p:nvSpPr>
          <p:cNvPr id="11" name="TextBox 10"/>
          <p:cNvSpPr txBox="1"/>
          <p:nvPr/>
        </p:nvSpPr>
        <p:spPr>
          <a:xfrm>
            <a:off x="1371600" y="3538728"/>
            <a:ext cx="9784080" cy="640080"/>
          </a:xfrm>
          <a:prstGeom prst="rect">
            <a:avLst/>
          </a:prstGeom>
          <a:noFill/>
        </p:spPr>
        <p:txBody>
          <a:bodyPr wrap="square" lIns="18288" rIns="18288" tIns="27432" bIns="0">
            <a:spAutoFit/>
          </a:bodyPr>
          <a:lstStyle/>
          <a:p>
            <a:pPr>
              <a:spcAft>
                <a:spcPts val="1000"/>
              </a:spcAft>
              <a:defRPr sz="2000" b="0">
                <a:solidFill>
                  <a:srgbClr val="2A3140"/>
                </a:solidFill>
                <a:latin typeface="Aptos"/>
              </a:defRPr>
            </a:pPr>
            <a:r>
              <a:t>Link foods to their nutrients without losing the source identity.</a:t>
            </a:r>
          </a:p>
        </p:txBody>
      </p:sp>
      <p:sp>
        <p:nvSpPr>
          <p:cNvPr id="12" name="TextBox 11"/>
          <p:cNvSpPr txBox="1"/>
          <p:nvPr/>
        </p:nvSpPr>
        <p:spPr>
          <a:xfrm>
            <a:off x="594360" y="4041648"/>
            <a:ext cx="594360" cy="594360"/>
          </a:xfrm>
          <a:prstGeom prst="rect">
            <a:avLst/>
          </a:prstGeom>
          <a:noFill/>
        </p:spPr>
        <p:txBody>
          <a:bodyPr wrap="square" lIns="18288" rIns="18288" tIns="27432" bIns="0">
            <a:spAutoFit/>
          </a:bodyPr>
          <a:lstStyle/>
          <a:p>
            <a:pPr>
              <a:spcAft>
                <a:spcPts val="1000"/>
              </a:spcAft>
              <a:defRPr sz="2700" b="1">
                <a:solidFill>
                  <a:srgbClr val="194F8E"/>
                </a:solidFill>
                <a:latin typeface="Aptos"/>
              </a:defRPr>
            </a:pPr>
            <a:r>
              <a:t>02</a:t>
            </a:r>
          </a:p>
        </p:txBody>
      </p:sp>
      <p:sp>
        <p:nvSpPr>
          <p:cNvPr id="13" name="TextBox 12"/>
          <p:cNvSpPr txBox="1"/>
          <p:nvPr/>
        </p:nvSpPr>
        <p:spPr>
          <a:xfrm>
            <a:off x="1371600" y="4041648"/>
            <a:ext cx="9875520" cy="457200"/>
          </a:xfrm>
          <a:prstGeom prst="rect">
            <a:avLst/>
          </a:prstGeom>
          <a:noFill/>
        </p:spPr>
        <p:txBody>
          <a:bodyPr wrap="square" lIns="18288" rIns="18288" tIns="27432" bIns="0">
            <a:spAutoFit/>
          </a:bodyPr>
          <a:lstStyle/>
          <a:p>
            <a:pPr>
              <a:spcAft>
                <a:spcPts val="1000"/>
              </a:spcAft>
              <a:defRPr sz="2400" b="1">
                <a:solidFill>
                  <a:srgbClr val="14284B"/>
                </a:solidFill>
                <a:latin typeface="Aptos"/>
              </a:defRPr>
            </a:pPr>
            <a:r>
              <a:t>Calculate useful summaries</a:t>
            </a:r>
          </a:p>
        </p:txBody>
      </p:sp>
      <p:sp>
        <p:nvSpPr>
          <p:cNvPr id="14" name="TextBox 13"/>
          <p:cNvSpPr txBox="1"/>
          <p:nvPr/>
        </p:nvSpPr>
        <p:spPr>
          <a:xfrm>
            <a:off x="1371600" y="4654296"/>
            <a:ext cx="9784080" cy="640080"/>
          </a:xfrm>
          <a:prstGeom prst="rect">
            <a:avLst/>
          </a:prstGeom>
          <a:noFill/>
        </p:spPr>
        <p:txBody>
          <a:bodyPr wrap="square" lIns="18288" rIns="18288" tIns="27432" bIns="0">
            <a:spAutoFit/>
          </a:bodyPr>
          <a:lstStyle/>
          <a:p>
            <a:pPr>
              <a:spcAft>
                <a:spcPts val="1000"/>
              </a:spcAft>
              <a:defRPr sz="2000" b="0">
                <a:solidFill>
                  <a:srgbClr val="2A3140"/>
                </a:solidFill>
                <a:latin typeface="Aptos"/>
              </a:defRPr>
            </a:pPr>
            <a:r>
              <a:t>Count foods and calculate nutrient totals and averages by food type.</a:t>
            </a:r>
          </a:p>
        </p:txBody>
      </p:sp>
      <p:sp>
        <p:nvSpPr>
          <p:cNvPr id="15" name="TextBox 14"/>
          <p:cNvSpPr txBox="1"/>
          <p:nvPr/>
        </p:nvSpPr>
        <p:spPr>
          <a:xfrm>
            <a:off x="594360" y="5157216"/>
            <a:ext cx="594360" cy="594360"/>
          </a:xfrm>
          <a:prstGeom prst="rect">
            <a:avLst/>
          </a:prstGeom>
          <a:noFill/>
        </p:spPr>
        <p:txBody>
          <a:bodyPr wrap="square" lIns="18288" rIns="18288" tIns="27432" bIns="0">
            <a:spAutoFit/>
          </a:bodyPr>
          <a:lstStyle/>
          <a:p>
            <a:pPr>
              <a:spcAft>
                <a:spcPts val="1000"/>
              </a:spcAft>
              <a:defRPr sz="2700" b="1">
                <a:solidFill>
                  <a:srgbClr val="194F8E"/>
                </a:solidFill>
                <a:latin typeface="Aptos"/>
              </a:defRPr>
            </a:pPr>
            <a:r>
              <a:t>03</a:t>
            </a:r>
          </a:p>
        </p:txBody>
      </p:sp>
      <p:sp>
        <p:nvSpPr>
          <p:cNvPr id="16" name="TextBox 15"/>
          <p:cNvSpPr txBox="1"/>
          <p:nvPr/>
        </p:nvSpPr>
        <p:spPr>
          <a:xfrm>
            <a:off x="1371600" y="5157216"/>
            <a:ext cx="9875520" cy="457200"/>
          </a:xfrm>
          <a:prstGeom prst="rect">
            <a:avLst/>
          </a:prstGeom>
          <a:noFill/>
        </p:spPr>
        <p:txBody>
          <a:bodyPr wrap="square" lIns="18288" rIns="18288" tIns="27432" bIns="0">
            <a:spAutoFit/>
          </a:bodyPr>
          <a:lstStyle/>
          <a:p>
            <a:pPr>
              <a:spcAft>
                <a:spcPts val="1000"/>
              </a:spcAft>
              <a:defRPr sz="2400" b="1">
                <a:solidFill>
                  <a:srgbClr val="14284B"/>
                </a:solidFill>
                <a:latin typeface="Aptos"/>
              </a:defRPr>
            </a:pPr>
            <a:r>
              <a:t>Check correctness and performance</a:t>
            </a:r>
          </a:p>
        </p:txBody>
      </p:sp>
      <p:sp>
        <p:nvSpPr>
          <p:cNvPr id="17" name="TextBox 16"/>
          <p:cNvSpPr txBox="1"/>
          <p:nvPr/>
        </p:nvSpPr>
        <p:spPr>
          <a:xfrm>
            <a:off x="1371600" y="5769864"/>
            <a:ext cx="9784080" cy="640080"/>
          </a:xfrm>
          <a:prstGeom prst="rect">
            <a:avLst/>
          </a:prstGeom>
          <a:noFill/>
        </p:spPr>
        <p:txBody>
          <a:bodyPr wrap="square" lIns="18288" rIns="18288" tIns="27432" bIns="0">
            <a:spAutoFit/>
          </a:bodyPr>
          <a:lstStyle/>
          <a:p>
            <a:pPr>
              <a:spcAft>
                <a:spcPts val="1000"/>
              </a:spcAft>
              <a:defRPr sz="2000" b="0">
                <a:solidFill>
                  <a:srgbClr val="2A3140"/>
                </a:solidFill>
                <a:latin typeface="Aptos"/>
              </a:defRPr>
            </a:pPr>
            <a:r>
              <a:t>Compare the answers across tools and measure search and storage efficiency.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20040"/>
            <a:ext cx="73152" cy="201168"/>
          </a:xfrm>
          <a:prstGeom prst="rect">
            <a:avLst/>
          </a:prstGeom>
          <a:solidFill>
            <a:srgbClr val="194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65176"/>
            <a:ext cx="10058400" cy="274320"/>
          </a:xfrm>
          <a:prstGeom prst="rect">
            <a:avLst/>
          </a:prstGeom>
          <a:noFill/>
        </p:spPr>
        <p:txBody>
          <a:bodyPr wrap="square" lIns="18288" rIns="18288" tIns="27432" bIns="0">
            <a:spAutoFit/>
          </a:bodyPr>
          <a:lstStyle/>
          <a:p>
            <a:pPr>
              <a:spcAft>
                <a:spcPts val="1000"/>
              </a:spcAft>
              <a:defRPr sz="1100" b="1">
                <a:solidFill>
                  <a:srgbClr val="194F8E"/>
                </a:solidFill>
                <a:latin typeface="Aptos"/>
              </a:defRPr>
            </a:pPr>
            <a:r>
              <a:t>DATASET &amp; RECORD LINKAGE</a:t>
            </a:r>
          </a:p>
        </p:txBody>
      </p:sp>
      <p:sp>
        <p:nvSpPr>
          <p:cNvPr id="4" name="TextBox 3"/>
          <p:cNvSpPr txBox="1"/>
          <p:nvPr/>
        </p:nvSpPr>
        <p:spPr>
          <a:xfrm>
            <a:off x="521207" y="777240"/>
            <a:ext cx="11064240" cy="914400"/>
          </a:xfrm>
          <a:prstGeom prst="rect">
            <a:avLst/>
          </a:prstGeom>
          <a:noFill/>
        </p:spPr>
        <p:txBody>
          <a:bodyPr wrap="square" lIns="18288" rIns="18288" tIns="27432" bIns="0">
            <a:spAutoFit/>
          </a:bodyPr>
          <a:lstStyle/>
          <a:p>
            <a:pPr>
              <a:spcAft>
                <a:spcPts val="1000"/>
              </a:spcAft>
              <a:defRPr sz="3000" b="1">
                <a:solidFill>
                  <a:srgbClr val="14284B"/>
                </a:solidFill>
                <a:latin typeface="Aptos"/>
              </a:defRPr>
            </a:pPr>
            <a:r>
              <a:t>One food can have many nutrient records</a:t>
            </a:r>
          </a:p>
        </p:txBody>
      </p:sp>
      <p:sp>
        <p:nvSpPr>
          <p:cNvPr id="5" name="Rectangle 4"/>
          <p:cNvSpPr/>
          <p:nvPr/>
        </p:nvSpPr>
        <p:spPr>
          <a:xfrm>
            <a:off x="548640" y="6428232"/>
            <a:ext cx="11064240" cy="10972"/>
          </a:xfrm>
          <a:prstGeom prst="rect">
            <a:avLst/>
          </a:prstGeom>
          <a:solidFill>
            <a:srgbClr val="D8E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058400" cy="228600"/>
          </a:xfrm>
          <a:prstGeom prst="rect">
            <a:avLst/>
          </a:prstGeom>
          <a:noFill/>
        </p:spPr>
        <p:txBody>
          <a:bodyPr wrap="square" lIns="18288" rIns="18288" tIns="27432" bIns="0">
            <a:spAutoFit/>
          </a:bodyPr>
          <a:lstStyle/>
          <a:p>
            <a:pPr>
              <a:spcAft>
                <a:spcPts val="1000"/>
              </a:spcAft>
              <a:defRPr sz="900" b="0">
                <a:solidFill>
                  <a:srgbClr val="596678"/>
                </a:solidFill>
                <a:latin typeface="Aptos"/>
              </a:defRPr>
            </a:pPr>
            <a:r>
              <a:t>USDA FOODDATA CENTRAL  /  BCS714D · TRACK B</a:t>
            </a:r>
          </a:p>
        </p:txBody>
      </p:sp>
      <p:sp>
        <p:nvSpPr>
          <p:cNvPr id="7" name="TextBox 6"/>
          <p:cNvSpPr txBox="1"/>
          <p:nvPr/>
        </p:nvSpPr>
        <p:spPr>
          <a:xfrm>
            <a:off x="10972800" y="6492240"/>
            <a:ext cx="594360" cy="228600"/>
          </a:xfrm>
          <a:prstGeom prst="rect">
            <a:avLst/>
          </a:prstGeom>
          <a:noFill/>
        </p:spPr>
        <p:txBody>
          <a:bodyPr wrap="square" lIns="18288" rIns="18288" tIns="27432" bIns="0">
            <a:spAutoFit/>
          </a:bodyPr>
          <a:lstStyle/>
          <a:p>
            <a:pPr algn="r">
              <a:spcAft>
                <a:spcPts val="1000"/>
              </a:spcAft>
              <a:defRPr sz="1000" b="1">
                <a:solidFill>
                  <a:srgbClr val="194F8E"/>
                </a:solidFill>
                <a:latin typeface="Aptos"/>
              </a:defRPr>
            </a:pPr>
            <a:r>
              <a:t>03</a:t>
            </a:r>
          </a:p>
        </p:txBody>
      </p:sp>
      <p:sp>
        <p:nvSpPr>
          <p:cNvPr id="8" name="Rectangle 7"/>
          <p:cNvSpPr/>
          <p:nvPr/>
        </p:nvSpPr>
        <p:spPr>
          <a:xfrm>
            <a:off x="594360" y="1828800"/>
            <a:ext cx="10972800" cy="566928"/>
          </a:xfrm>
          <a:prstGeom prst="rect">
            <a:avLst/>
          </a:prstGeom>
          <a:solidFill>
            <a:srgbClr val="14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20240"/>
            <a:ext cx="2926080" cy="438912"/>
          </a:xfrm>
          <a:prstGeom prst="rect">
            <a:avLst/>
          </a:prstGeom>
          <a:noFill/>
        </p:spPr>
        <p:txBody>
          <a:bodyPr wrap="square" lIns="18288" rIns="18288" tIns="27432" bIns="0">
            <a:spAutoFit/>
          </a:bodyPr>
          <a:lstStyle/>
          <a:p>
            <a:pPr>
              <a:spcAft>
                <a:spcPts val="1000"/>
              </a:spcAft>
              <a:defRPr sz="1700" b="1">
                <a:solidFill>
                  <a:srgbClr val="FFFFFF"/>
                </a:solidFill>
                <a:latin typeface="Aptos"/>
              </a:defRPr>
            </a:pPr>
            <a:r>
              <a:t>Source file</a:t>
            </a:r>
          </a:p>
        </p:txBody>
      </p:sp>
      <p:sp>
        <p:nvSpPr>
          <p:cNvPr id="10" name="TextBox 9"/>
          <p:cNvSpPr txBox="1"/>
          <p:nvPr/>
        </p:nvSpPr>
        <p:spPr>
          <a:xfrm>
            <a:off x="3886200" y="1920240"/>
            <a:ext cx="4297680" cy="438912"/>
          </a:xfrm>
          <a:prstGeom prst="rect">
            <a:avLst/>
          </a:prstGeom>
          <a:noFill/>
        </p:spPr>
        <p:txBody>
          <a:bodyPr wrap="square" lIns="18288" rIns="18288" tIns="27432" bIns="0">
            <a:spAutoFit/>
          </a:bodyPr>
          <a:lstStyle/>
          <a:p>
            <a:pPr>
              <a:spcAft>
                <a:spcPts val="1000"/>
              </a:spcAft>
              <a:defRPr sz="1700" b="1">
                <a:solidFill>
                  <a:srgbClr val="FFFFFF"/>
                </a:solidFill>
                <a:latin typeface="Aptos"/>
              </a:defRPr>
            </a:pPr>
            <a:r>
              <a:t>What it contains</a:t>
            </a:r>
          </a:p>
        </p:txBody>
      </p:sp>
      <p:sp>
        <p:nvSpPr>
          <p:cNvPr id="11" name="TextBox 10"/>
          <p:cNvSpPr txBox="1"/>
          <p:nvPr/>
        </p:nvSpPr>
        <p:spPr>
          <a:xfrm>
            <a:off x="8412480" y="1920240"/>
            <a:ext cx="3063240" cy="438912"/>
          </a:xfrm>
          <a:prstGeom prst="rect">
            <a:avLst/>
          </a:prstGeom>
          <a:noFill/>
        </p:spPr>
        <p:txBody>
          <a:bodyPr wrap="square" lIns="18288" rIns="18288" tIns="27432" bIns="0">
            <a:spAutoFit/>
          </a:bodyPr>
          <a:lstStyle/>
          <a:p>
            <a:pPr>
              <a:spcAft>
                <a:spcPts val="1000"/>
              </a:spcAft>
              <a:defRPr sz="1700" b="1">
                <a:solidFill>
                  <a:srgbClr val="FFFFFF"/>
                </a:solidFill>
                <a:latin typeface="Aptos"/>
              </a:defRPr>
            </a:pPr>
            <a:r>
              <a:t>How it connects</a:t>
            </a:r>
          </a:p>
        </p:txBody>
      </p:sp>
      <p:sp>
        <p:nvSpPr>
          <p:cNvPr id="12" name="Rectangle 11"/>
          <p:cNvSpPr/>
          <p:nvPr/>
        </p:nvSpPr>
        <p:spPr>
          <a:xfrm>
            <a:off x="594360" y="2395728"/>
            <a:ext cx="10972800" cy="56692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487168"/>
            <a:ext cx="2926080"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food.csv</a:t>
            </a:r>
          </a:p>
        </p:txBody>
      </p:sp>
      <p:sp>
        <p:nvSpPr>
          <p:cNvPr id="14" name="TextBox 13"/>
          <p:cNvSpPr txBox="1"/>
          <p:nvPr/>
        </p:nvSpPr>
        <p:spPr>
          <a:xfrm>
            <a:off x="3886200" y="2487168"/>
            <a:ext cx="4297680"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Food ID, name, food type</a:t>
            </a:r>
          </a:p>
        </p:txBody>
      </p:sp>
      <p:sp>
        <p:nvSpPr>
          <p:cNvPr id="15" name="TextBox 14"/>
          <p:cNvSpPr txBox="1"/>
          <p:nvPr/>
        </p:nvSpPr>
        <p:spPr>
          <a:xfrm>
            <a:off x="8412480" y="2487168"/>
            <a:ext cx="3063240"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fdc_id</a:t>
            </a:r>
          </a:p>
        </p:txBody>
      </p:sp>
      <p:sp>
        <p:nvSpPr>
          <p:cNvPr id="16" name="Rectangle 15"/>
          <p:cNvSpPr/>
          <p:nvPr/>
        </p:nvSpPr>
        <p:spPr>
          <a:xfrm>
            <a:off x="594360" y="2962656"/>
            <a:ext cx="10972800" cy="56692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054096"/>
            <a:ext cx="2926080"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food_nutrient.csv</a:t>
            </a:r>
          </a:p>
        </p:txBody>
      </p:sp>
      <p:sp>
        <p:nvSpPr>
          <p:cNvPr id="18" name="TextBox 17"/>
          <p:cNvSpPr txBox="1"/>
          <p:nvPr/>
        </p:nvSpPr>
        <p:spPr>
          <a:xfrm>
            <a:off x="3886200" y="3054096"/>
            <a:ext cx="4297680"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Food ID, nutrient ID, amount</a:t>
            </a:r>
          </a:p>
        </p:txBody>
      </p:sp>
      <p:sp>
        <p:nvSpPr>
          <p:cNvPr id="19" name="TextBox 18"/>
          <p:cNvSpPr txBox="1"/>
          <p:nvPr/>
        </p:nvSpPr>
        <p:spPr>
          <a:xfrm>
            <a:off x="8412480" y="3054096"/>
            <a:ext cx="3063240"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fdc_id + nutrient_id</a:t>
            </a:r>
          </a:p>
        </p:txBody>
      </p:sp>
      <p:sp>
        <p:nvSpPr>
          <p:cNvPr id="20" name="Rectangle 19"/>
          <p:cNvSpPr/>
          <p:nvPr/>
        </p:nvSpPr>
        <p:spPr>
          <a:xfrm>
            <a:off x="594360" y="3529584"/>
            <a:ext cx="10972800" cy="56692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621024"/>
            <a:ext cx="2926080"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nutrient.csv</a:t>
            </a:r>
          </a:p>
        </p:txBody>
      </p:sp>
      <p:sp>
        <p:nvSpPr>
          <p:cNvPr id="22" name="TextBox 21"/>
          <p:cNvSpPr txBox="1"/>
          <p:nvPr/>
        </p:nvSpPr>
        <p:spPr>
          <a:xfrm>
            <a:off x="3886200" y="3621024"/>
            <a:ext cx="4297680"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Nutrient name and unit</a:t>
            </a:r>
          </a:p>
        </p:txBody>
      </p:sp>
      <p:sp>
        <p:nvSpPr>
          <p:cNvPr id="23" name="TextBox 22"/>
          <p:cNvSpPr txBox="1"/>
          <p:nvPr/>
        </p:nvSpPr>
        <p:spPr>
          <a:xfrm>
            <a:off x="8412480" y="3621024"/>
            <a:ext cx="3063240"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nutrient_id</a:t>
            </a:r>
          </a:p>
        </p:txBody>
      </p:sp>
      <p:sp>
        <p:nvSpPr>
          <p:cNvPr id="24" name="Rectangle 23"/>
          <p:cNvSpPr/>
          <p:nvPr/>
        </p:nvSpPr>
        <p:spPr>
          <a:xfrm>
            <a:off x="594360" y="4480560"/>
            <a:ext cx="3200400" cy="822960"/>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4626864"/>
            <a:ext cx="2980944" cy="640080"/>
          </a:xfrm>
          <a:prstGeom prst="rect">
            <a:avLst/>
          </a:prstGeom>
          <a:noFill/>
        </p:spPr>
        <p:txBody>
          <a:bodyPr wrap="square" lIns="18288" rIns="18288" tIns="27432" bIns="0">
            <a:spAutoFit/>
          </a:bodyPr>
          <a:lstStyle/>
          <a:p>
            <a:pPr algn="ctr">
              <a:spcAft>
                <a:spcPts val="1000"/>
              </a:spcAft>
              <a:defRPr sz="1900" b="1">
                <a:solidFill>
                  <a:srgbClr val="14284B"/>
                </a:solidFill>
                <a:latin typeface="Aptos"/>
              </a:defRPr>
            </a:pPr>
            <a:r>
              <a:t>Food: WESSON Vegetable Oil</a:t>
            </a:r>
          </a:p>
        </p:txBody>
      </p:sp>
      <p:sp>
        <p:nvSpPr>
          <p:cNvPr id="26" name="TextBox 25"/>
          <p:cNvSpPr txBox="1"/>
          <p:nvPr/>
        </p:nvSpPr>
        <p:spPr>
          <a:xfrm>
            <a:off x="3840480" y="4599432"/>
            <a:ext cx="457200" cy="548640"/>
          </a:xfrm>
          <a:prstGeom prst="rect">
            <a:avLst/>
          </a:prstGeom>
          <a:noFill/>
        </p:spPr>
        <p:txBody>
          <a:bodyPr wrap="square" lIns="18288" rIns="18288" tIns="27432" bIns="0">
            <a:spAutoFit/>
          </a:bodyPr>
          <a:lstStyle/>
          <a:p>
            <a:pPr algn="ctr">
              <a:spcAft>
                <a:spcPts val="1000"/>
              </a:spcAft>
              <a:defRPr sz="2500" b="1">
                <a:solidFill>
                  <a:srgbClr val="194F8E"/>
                </a:solidFill>
                <a:latin typeface="Aptos"/>
              </a:defRPr>
            </a:pPr>
            <a:r>
              <a:t>→</a:t>
            </a:r>
          </a:p>
        </p:txBody>
      </p:sp>
      <p:sp>
        <p:nvSpPr>
          <p:cNvPr id="27" name="Rectangle 26"/>
          <p:cNvSpPr/>
          <p:nvPr/>
        </p:nvSpPr>
        <p:spPr>
          <a:xfrm>
            <a:off x="4389120" y="4480560"/>
            <a:ext cx="2971800" cy="822960"/>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98848" y="4626864"/>
            <a:ext cx="2752344" cy="640080"/>
          </a:xfrm>
          <a:prstGeom prst="rect">
            <a:avLst/>
          </a:prstGeom>
          <a:noFill/>
        </p:spPr>
        <p:txBody>
          <a:bodyPr wrap="square" lIns="18288" rIns="18288" tIns="27432" bIns="0">
            <a:spAutoFit/>
          </a:bodyPr>
          <a:lstStyle/>
          <a:p>
            <a:pPr algn="ctr">
              <a:spcAft>
                <a:spcPts val="1000"/>
              </a:spcAft>
              <a:defRPr sz="1900" b="1">
                <a:solidFill>
                  <a:srgbClr val="14284B"/>
                </a:solidFill>
                <a:latin typeface="Aptos"/>
              </a:defRPr>
            </a:pPr>
            <a:r>
              <a:t>fdc_id: 1105904</a:t>
            </a:r>
          </a:p>
        </p:txBody>
      </p:sp>
      <p:sp>
        <p:nvSpPr>
          <p:cNvPr id="29" name="TextBox 28"/>
          <p:cNvSpPr txBox="1"/>
          <p:nvPr/>
        </p:nvSpPr>
        <p:spPr>
          <a:xfrm>
            <a:off x="7434072" y="4599432"/>
            <a:ext cx="457200" cy="548640"/>
          </a:xfrm>
          <a:prstGeom prst="rect">
            <a:avLst/>
          </a:prstGeom>
          <a:noFill/>
        </p:spPr>
        <p:txBody>
          <a:bodyPr wrap="square" lIns="18288" rIns="18288" tIns="27432" bIns="0">
            <a:spAutoFit/>
          </a:bodyPr>
          <a:lstStyle/>
          <a:p>
            <a:pPr algn="ctr">
              <a:spcAft>
                <a:spcPts val="1000"/>
              </a:spcAft>
              <a:defRPr sz="2500" b="1">
                <a:solidFill>
                  <a:srgbClr val="194F8E"/>
                </a:solidFill>
                <a:latin typeface="Aptos"/>
              </a:defRPr>
            </a:pPr>
            <a:r>
              <a:t>→</a:t>
            </a:r>
          </a:p>
        </p:txBody>
      </p:sp>
      <p:sp>
        <p:nvSpPr>
          <p:cNvPr id="30" name="Rectangle 29"/>
          <p:cNvSpPr/>
          <p:nvPr/>
        </p:nvSpPr>
        <p:spPr>
          <a:xfrm>
            <a:off x="8001000" y="4480560"/>
            <a:ext cx="3566160" cy="822960"/>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10727" y="4626864"/>
            <a:ext cx="3346704" cy="640080"/>
          </a:xfrm>
          <a:prstGeom prst="rect">
            <a:avLst/>
          </a:prstGeom>
          <a:noFill/>
        </p:spPr>
        <p:txBody>
          <a:bodyPr wrap="square" lIns="18288" rIns="18288" tIns="27432" bIns="0">
            <a:spAutoFit/>
          </a:bodyPr>
          <a:lstStyle/>
          <a:p>
            <a:pPr algn="ctr">
              <a:spcAft>
                <a:spcPts val="1000"/>
              </a:spcAft>
              <a:defRPr sz="1900" b="1">
                <a:solidFill>
                  <a:srgbClr val="14284B"/>
                </a:solidFill>
                <a:latin typeface="Aptos"/>
              </a:defRPr>
            </a:pPr>
            <a:r>
              <a:t>Its linked nutrient records</a:t>
            </a:r>
          </a:p>
        </p:txBody>
      </p:sp>
      <p:sp>
        <p:nvSpPr>
          <p:cNvPr id="32" name="TextBox 31"/>
          <p:cNvSpPr txBox="1"/>
          <p:nvPr/>
        </p:nvSpPr>
        <p:spPr>
          <a:xfrm>
            <a:off x="640080" y="5596128"/>
            <a:ext cx="10881360" cy="594360"/>
          </a:xfrm>
          <a:prstGeom prst="rect">
            <a:avLst/>
          </a:prstGeom>
          <a:noFill/>
        </p:spPr>
        <p:txBody>
          <a:bodyPr wrap="square" lIns="18288" rIns="18288" tIns="27432" bIns="0">
            <a:spAutoFit/>
          </a:bodyPr>
          <a:lstStyle/>
          <a:p>
            <a:pPr>
              <a:spcAft>
                <a:spcPts val="1000"/>
              </a:spcAft>
              <a:defRPr sz="1800" b="0">
                <a:solidFill>
                  <a:srgbClr val="596678"/>
                </a:solidFill>
                <a:latin typeface="Aptos"/>
              </a:defRPr>
            </a:pPr>
            <a:r>
              <a:t>Source: October 2024 USDA CSV package. Full release: 2.06 million foods.</a:t>
            </a:r>
          </a:p>
          <a:p>
            <a:pPr>
              <a:spcAft>
                <a:spcPts val="1000"/>
              </a:spcAft>
              <a:defRPr sz="1800" b="0">
                <a:solidFill>
                  <a:srgbClr val="596678"/>
                </a:solidFill>
                <a:latin typeface="Aptos"/>
              </a:defRPr>
            </a:pPr>
            <a:r>
              <a:t>Presentation test: 50,000 foods + all 1,126,928 linked nutrient records.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20040"/>
            <a:ext cx="73152" cy="201168"/>
          </a:xfrm>
          <a:prstGeom prst="rect">
            <a:avLst/>
          </a:prstGeom>
          <a:solidFill>
            <a:srgbClr val="194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65176"/>
            <a:ext cx="10058400" cy="274320"/>
          </a:xfrm>
          <a:prstGeom prst="rect">
            <a:avLst/>
          </a:prstGeom>
          <a:noFill/>
        </p:spPr>
        <p:txBody>
          <a:bodyPr wrap="square" lIns="18288" rIns="18288" tIns="27432" bIns="0">
            <a:spAutoFit/>
          </a:bodyPr>
          <a:lstStyle/>
          <a:p>
            <a:pPr>
              <a:spcAft>
                <a:spcPts val="1000"/>
              </a:spcAft>
              <a:defRPr sz="1100" b="1">
                <a:solidFill>
                  <a:srgbClr val="194F8E"/>
                </a:solidFill>
                <a:latin typeface="Aptos"/>
              </a:defRPr>
            </a:pPr>
            <a:r>
              <a:t>SYSTEM ARCHITECTURE</a:t>
            </a:r>
          </a:p>
        </p:txBody>
      </p:sp>
      <p:sp>
        <p:nvSpPr>
          <p:cNvPr id="4" name="TextBox 3"/>
          <p:cNvSpPr txBox="1"/>
          <p:nvPr/>
        </p:nvSpPr>
        <p:spPr>
          <a:xfrm>
            <a:off x="521207" y="777240"/>
            <a:ext cx="11064240" cy="914400"/>
          </a:xfrm>
          <a:prstGeom prst="rect">
            <a:avLst/>
          </a:prstGeom>
          <a:noFill/>
        </p:spPr>
        <p:txBody>
          <a:bodyPr wrap="square" lIns="18288" rIns="18288" tIns="27432" bIns="0">
            <a:spAutoFit/>
          </a:bodyPr>
          <a:lstStyle/>
          <a:p>
            <a:pPr>
              <a:spcAft>
                <a:spcPts val="1000"/>
              </a:spcAft>
              <a:defRPr sz="3000" b="1">
                <a:solidFill>
                  <a:srgbClr val="14284B"/>
                </a:solidFill>
                <a:latin typeface="Aptos"/>
              </a:defRPr>
            </a:pPr>
            <a:r>
              <a:t>The same linked data follows two analysis paths</a:t>
            </a:r>
          </a:p>
        </p:txBody>
      </p:sp>
      <p:sp>
        <p:nvSpPr>
          <p:cNvPr id="5" name="Rectangle 4"/>
          <p:cNvSpPr/>
          <p:nvPr/>
        </p:nvSpPr>
        <p:spPr>
          <a:xfrm>
            <a:off x="548640" y="6428232"/>
            <a:ext cx="11064240" cy="10972"/>
          </a:xfrm>
          <a:prstGeom prst="rect">
            <a:avLst/>
          </a:prstGeom>
          <a:solidFill>
            <a:srgbClr val="D8E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058400" cy="228600"/>
          </a:xfrm>
          <a:prstGeom prst="rect">
            <a:avLst/>
          </a:prstGeom>
          <a:noFill/>
        </p:spPr>
        <p:txBody>
          <a:bodyPr wrap="square" lIns="18288" rIns="18288" tIns="27432" bIns="0">
            <a:spAutoFit/>
          </a:bodyPr>
          <a:lstStyle/>
          <a:p>
            <a:pPr>
              <a:spcAft>
                <a:spcPts val="1000"/>
              </a:spcAft>
              <a:defRPr sz="900" b="0">
                <a:solidFill>
                  <a:srgbClr val="596678"/>
                </a:solidFill>
                <a:latin typeface="Aptos"/>
              </a:defRPr>
            </a:pPr>
            <a:r>
              <a:t>USDA FOODDATA CENTRAL  /  BCS714D · TRACK B</a:t>
            </a:r>
          </a:p>
        </p:txBody>
      </p:sp>
      <p:sp>
        <p:nvSpPr>
          <p:cNvPr id="7" name="TextBox 6"/>
          <p:cNvSpPr txBox="1"/>
          <p:nvPr/>
        </p:nvSpPr>
        <p:spPr>
          <a:xfrm>
            <a:off x="10972800" y="6492240"/>
            <a:ext cx="594360" cy="228600"/>
          </a:xfrm>
          <a:prstGeom prst="rect">
            <a:avLst/>
          </a:prstGeom>
          <a:noFill/>
        </p:spPr>
        <p:txBody>
          <a:bodyPr wrap="square" lIns="18288" rIns="18288" tIns="27432" bIns="0">
            <a:spAutoFit/>
          </a:bodyPr>
          <a:lstStyle/>
          <a:p>
            <a:pPr algn="r">
              <a:spcAft>
                <a:spcPts val="1000"/>
              </a:spcAft>
              <a:defRPr sz="1000" b="1">
                <a:solidFill>
                  <a:srgbClr val="194F8E"/>
                </a:solidFill>
                <a:latin typeface="Aptos"/>
              </a:defRPr>
            </a:pPr>
            <a:r>
              <a:t>04</a:t>
            </a:r>
          </a:p>
        </p:txBody>
      </p:sp>
      <p:sp>
        <p:nvSpPr>
          <p:cNvPr id="8" name="Rectangle 7"/>
          <p:cNvSpPr/>
          <p:nvPr/>
        </p:nvSpPr>
        <p:spPr>
          <a:xfrm>
            <a:off x="594360" y="1920240"/>
            <a:ext cx="2148840" cy="777240"/>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066544"/>
            <a:ext cx="1929384" cy="594359"/>
          </a:xfrm>
          <a:prstGeom prst="rect">
            <a:avLst/>
          </a:prstGeom>
          <a:noFill/>
        </p:spPr>
        <p:txBody>
          <a:bodyPr wrap="square" lIns="18288" rIns="18288" tIns="27432" bIns="0">
            <a:spAutoFit/>
          </a:bodyPr>
          <a:lstStyle/>
          <a:p>
            <a:pPr algn="ctr">
              <a:spcAft>
                <a:spcPts val="1000"/>
              </a:spcAft>
              <a:defRPr sz="1900" b="1">
                <a:solidFill>
                  <a:srgbClr val="14284B"/>
                </a:solidFill>
                <a:latin typeface="Aptos"/>
              </a:defRPr>
            </a:pPr>
            <a:r>
              <a:t>USDA CSV ZIP</a:t>
            </a:r>
          </a:p>
        </p:txBody>
      </p:sp>
      <p:sp>
        <p:nvSpPr>
          <p:cNvPr id="10" name="TextBox 9"/>
          <p:cNvSpPr txBox="1"/>
          <p:nvPr/>
        </p:nvSpPr>
        <p:spPr>
          <a:xfrm>
            <a:off x="2788920" y="2011680"/>
            <a:ext cx="457200" cy="548640"/>
          </a:xfrm>
          <a:prstGeom prst="rect">
            <a:avLst/>
          </a:prstGeom>
          <a:noFill/>
        </p:spPr>
        <p:txBody>
          <a:bodyPr wrap="square" lIns="18288" rIns="18288" tIns="27432" bIns="0">
            <a:spAutoFit/>
          </a:bodyPr>
          <a:lstStyle/>
          <a:p>
            <a:pPr algn="ctr">
              <a:spcAft>
                <a:spcPts val="1000"/>
              </a:spcAft>
              <a:defRPr sz="2500" b="1">
                <a:solidFill>
                  <a:srgbClr val="194F8E"/>
                </a:solidFill>
                <a:latin typeface="Aptos"/>
              </a:defRPr>
            </a:pPr>
            <a:r>
              <a:t>→</a:t>
            </a:r>
          </a:p>
        </p:txBody>
      </p:sp>
      <p:sp>
        <p:nvSpPr>
          <p:cNvPr id="11" name="Rectangle 10"/>
          <p:cNvSpPr/>
          <p:nvPr/>
        </p:nvSpPr>
        <p:spPr>
          <a:xfrm>
            <a:off x="3337560" y="1920240"/>
            <a:ext cx="2468880" cy="777240"/>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7288" y="2066544"/>
            <a:ext cx="2249424" cy="594359"/>
          </a:xfrm>
          <a:prstGeom prst="rect">
            <a:avLst/>
          </a:prstGeom>
          <a:noFill/>
        </p:spPr>
        <p:txBody>
          <a:bodyPr wrap="square" lIns="18288" rIns="18288" tIns="27432" bIns="0">
            <a:spAutoFit/>
          </a:bodyPr>
          <a:lstStyle/>
          <a:p>
            <a:pPr algn="ctr">
              <a:spcAft>
                <a:spcPts val="1000"/>
              </a:spcAft>
              <a:defRPr sz="1900" b="1">
                <a:solidFill>
                  <a:srgbClr val="14284B"/>
                </a:solidFill>
                <a:latin typeface="Aptos"/>
              </a:defRPr>
            </a:pPr>
            <a:r>
              <a:t>MongoDB</a:t>
            </a:r>
          </a:p>
        </p:txBody>
      </p:sp>
      <p:sp>
        <p:nvSpPr>
          <p:cNvPr id="13" name="TextBox 12"/>
          <p:cNvSpPr txBox="1"/>
          <p:nvPr/>
        </p:nvSpPr>
        <p:spPr>
          <a:xfrm>
            <a:off x="5852160" y="2011680"/>
            <a:ext cx="457200" cy="548640"/>
          </a:xfrm>
          <a:prstGeom prst="rect">
            <a:avLst/>
          </a:prstGeom>
          <a:noFill/>
        </p:spPr>
        <p:txBody>
          <a:bodyPr wrap="square" lIns="18288" rIns="18288" tIns="27432" bIns="0">
            <a:spAutoFit/>
          </a:bodyPr>
          <a:lstStyle/>
          <a:p>
            <a:pPr algn="ctr">
              <a:spcAft>
                <a:spcPts val="1000"/>
              </a:spcAft>
              <a:defRPr sz="2500" b="1">
                <a:solidFill>
                  <a:srgbClr val="194F8E"/>
                </a:solidFill>
                <a:latin typeface="Aptos"/>
              </a:defRPr>
            </a:pPr>
            <a:r>
              <a:t>→</a:t>
            </a:r>
          </a:p>
        </p:txBody>
      </p:sp>
      <p:sp>
        <p:nvSpPr>
          <p:cNvPr id="14" name="Rectangle 13"/>
          <p:cNvSpPr/>
          <p:nvPr/>
        </p:nvSpPr>
        <p:spPr>
          <a:xfrm>
            <a:off x="6400800" y="1920240"/>
            <a:ext cx="5120640" cy="777240"/>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0528" y="2066544"/>
            <a:ext cx="4901183" cy="594359"/>
          </a:xfrm>
          <a:prstGeom prst="rect">
            <a:avLst/>
          </a:prstGeom>
          <a:noFill/>
        </p:spPr>
        <p:txBody>
          <a:bodyPr wrap="square" lIns="18288" rIns="18288" tIns="27432" bIns="0">
            <a:spAutoFit/>
          </a:bodyPr>
          <a:lstStyle/>
          <a:p>
            <a:pPr algn="ctr">
              <a:spcAft>
                <a:spcPts val="1000"/>
              </a:spcAft>
              <a:defRPr sz="1900" b="1">
                <a:solidFill>
                  <a:srgbClr val="14284B"/>
                </a:solidFill>
                <a:latin typeface="Aptos"/>
              </a:defRPr>
            </a:pPr>
            <a:r>
              <a:t>Prepared TSV files → HDFS</a:t>
            </a:r>
          </a:p>
        </p:txBody>
      </p:sp>
      <p:sp>
        <p:nvSpPr>
          <p:cNvPr id="16" name="Rectangle 15"/>
          <p:cNvSpPr/>
          <p:nvPr/>
        </p:nvSpPr>
        <p:spPr>
          <a:xfrm>
            <a:off x="594360" y="3291840"/>
            <a:ext cx="5212080" cy="914400"/>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3438144"/>
            <a:ext cx="4992624" cy="731520"/>
          </a:xfrm>
          <a:prstGeom prst="rect">
            <a:avLst/>
          </a:prstGeom>
          <a:noFill/>
        </p:spPr>
        <p:txBody>
          <a:bodyPr wrap="square" lIns="18288" rIns="18288" tIns="27432" bIns="0">
            <a:spAutoFit/>
          </a:bodyPr>
          <a:lstStyle/>
          <a:p>
            <a:pPr algn="ctr">
              <a:spcAft>
                <a:spcPts val="1000"/>
              </a:spcAft>
              <a:defRPr sz="1900" b="1">
                <a:solidFill>
                  <a:srgbClr val="14284B"/>
                </a:solidFill>
                <a:latin typeface="Aptos"/>
              </a:defRPr>
            </a:pPr>
            <a:r>
              <a:t>MongoDB aggregation + index profiling</a:t>
            </a:r>
          </a:p>
        </p:txBody>
      </p:sp>
      <p:sp>
        <p:nvSpPr>
          <p:cNvPr id="18" name="Rectangle 17"/>
          <p:cNvSpPr/>
          <p:nvPr/>
        </p:nvSpPr>
        <p:spPr>
          <a:xfrm>
            <a:off x="6400800" y="3291840"/>
            <a:ext cx="2423160" cy="914400"/>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8" y="3438144"/>
            <a:ext cx="2203704" cy="731520"/>
          </a:xfrm>
          <a:prstGeom prst="rect">
            <a:avLst/>
          </a:prstGeom>
          <a:noFill/>
        </p:spPr>
        <p:txBody>
          <a:bodyPr wrap="square" lIns="18288" rIns="18288" tIns="27432" bIns="0">
            <a:spAutoFit/>
          </a:bodyPr>
          <a:lstStyle/>
          <a:p>
            <a:pPr algn="ctr">
              <a:spcAft>
                <a:spcPts val="1000"/>
              </a:spcAft>
              <a:defRPr sz="1900" b="1">
                <a:solidFill>
                  <a:srgbClr val="14284B"/>
                </a:solidFill>
                <a:latin typeface="Aptos"/>
              </a:defRPr>
            </a:pPr>
            <a:r>
              <a:t>MapReduce</a:t>
            </a:r>
          </a:p>
        </p:txBody>
      </p:sp>
      <p:sp>
        <p:nvSpPr>
          <p:cNvPr id="20" name="Rectangle 19"/>
          <p:cNvSpPr/>
          <p:nvPr/>
        </p:nvSpPr>
        <p:spPr>
          <a:xfrm>
            <a:off x="9098280" y="3291840"/>
            <a:ext cx="2423160" cy="914400"/>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08007" y="3438144"/>
            <a:ext cx="2203704" cy="731520"/>
          </a:xfrm>
          <a:prstGeom prst="rect">
            <a:avLst/>
          </a:prstGeom>
          <a:noFill/>
        </p:spPr>
        <p:txBody>
          <a:bodyPr wrap="square" lIns="18288" rIns="18288" tIns="27432" bIns="0">
            <a:spAutoFit/>
          </a:bodyPr>
          <a:lstStyle/>
          <a:p>
            <a:pPr algn="ctr">
              <a:spcAft>
                <a:spcPts val="1000"/>
              </a:spcAft>
              <a:defRPr sz="1900" b="1">
                <a:solidFill>
                  <a:srgbClr val="14284B"/>
                </a:solidFill>
                <a:latin typeface="Aptos"/>
              </a:defRPr>
            </a:pPr>
            <a:r>
              <a:t>Pig cleaning</a:t>
            </a:r>
          </a:p>
        </p:txBody>
      </p:sp>
      <p:sp>
        <p:nvSpPr>
          <p:cNvPr id="22" name="TextBox 21"/>
          <p:cNvSpPr txBox="1"/>
          <p:nvPr/>
        </p:nvSpPr>
        <p:spPr>
          <a:xfrm>
            <a:off x="4251960" y="2779776"/>
            <a:ext cx="457200" cy="365760"/>
          </a:xfrm>
          <a:prstGeom prst="rect">
            <a:avLst/>
          </a:prstGeom>
          <a:noFill/>
        </p:spPr>
        <p:txBody>
          <a:bodyPr wrap="square" lIns="18288" rIns="18288" tIns="27432" bIns="0">
            <a:spAutoFit/>
          </a:bodyPr>
          <a:lstStyle/>
          <a:p>
            <a:pPr>
              <a:spcAft>
                <a:spcPts val="1000"/>
              </a:spcAft>
              <a:defRPr sz="2100" b="1">
                <a:solidFill>
                  <a:srgbClr val="194F8E"/>
                </a:solidFill>
                <a:latin typeface="Aptos"/>
              </a:defRPr>
            </a:pPr>
            <a:r>
              <a:t>↓</a:t>
            </a:r>
          </a:p>
        </p:txBody>
      </p:sp>
      <p:sp>
        <p:nvSpPr>
          <p:cNvPr id="23" name="TextBox 22"/>
          <p:cNvSpPr txBox="1"/>
          <p:nvPr/>
        </p:nvSpPr>
        <p:spPr>
          <a:xfrm>
            <a:off x="7315200" y="2779776"/>
            <a:ext cx="457200" cy="365760"/>
          </a:xfrm>
          <a:prstGeom prst="rect">
            <a:avLst/>
          </a:prstGeom>
          <a:noFill/>
        </p:spPr>
        <p:txBody>
          <a:bodyPr wrap="square" lIns="18288" rIns="18288" tIns="27432" bIns="0">
            <a:spAutoFit/>
          </a:bodyPr>
          <a:lstStyle/>
          <a:p>
            <a:pPr>
              <a:spcAft>
                <a:spcPts val="1000"/>
              </a:spcAft>
              <a:defRPr sz="2100" b="1">
                <a:solidFill>
                  <a:srgbClr val="194F8E"/>
                </a:solidFill>
                <a:latin typeface="Aptos"/>
              </a:defRPr>
            </a:pPr>
            <a:r>
              <a:t>↓</a:t>
            </a:r>
          </a:p>
        </p:txBody>
      </p:sp>
      <p:sp>
        <p:nvSpPr>
          <p:cNvPr id="24" name="TextBox 23"/>
          <p:cNvSpPr txBox="1"/>
          <p:nvPr/>
        </p:nvSpPr>
        <p:spPr>
          <a:xfrm>
            <a:off x="10058400" y="2779776"/>
            <a:ext cx="457200" cy="365760"/>
          </a:xfrm>
          <a:prstGeom prst="rect">
            <a:avLst/>
          </a:prstGeom>
          <a:noFill/>
        </p:spPr>
        <p:txBody>
          <a:bodyPr wrap="square" lIns="18288" rIns="18288" tIns="27432" bIns="0">
            <a:spAutoFit/>
          </a:bodyPr>
          <a:lstStyle/>
          <a:p>
            <a:pPr>
              <a:spcAft>
                <a:spcPts val="1000"/>
              </a:spcAft>
              <a:defRPr sz="2100" b="1">
                <a:solidFill>
                  <a:srgbClr val="194F8E"/>
                </a:solidFill>
                <a:latin typeface="Aptos"/>
              </a:defRPr>
            </a:pPr>
            <a:r>
              <a:t>↓</a:t>
            </a:r>
          </a:p>
        </p:txBody>
      </p:sp>
      <p:sp>
        <p:nvSpPr>
          <p:cNvPr id="25" name="TextBox 24"/>
          <p:cNvSpPr txBox="1"/>
          <p:nvPr/>
        </p:nvSpPr>
        <p:spPr>
          <a:xfrm>
            <a:off x="6400800" y="4407408"/>
            <a:ext cx="2423160" cy="548640"/>
          </a:xfrm>
          <a:prstGeom prst="rect">
            <a:avLst/>
          </a:prstGeom>
          <a:noFill/>
        </p:spPr>
        <p:txBody>
          <a:bodyPr wrap="square" lIns="18288" rIns="18288" tIns="27432" bIns="0">
            <a:spAutoFit/>
          </a:bodyPr>
          <a:lstStyle/>
          <a:p>
            <a:pPr algn="ctr">
              <a:spcAft>
                <a:spcPts val="1000"/>
              </a:spcAft>
              <a:defRPr sz="1700" b="0">
                <a:solidFill>
                  <a:srgbClr val="596678"/>
                </a:solidFill>
                <a:latin typeface="Aptos"/>
              </a:defRPr>
            </a:pPr>
            <a:r>
              <a:t>Count · total · mean</a:t>
            </a:r>
          </a:p>
        </p:txBody>
      </p:sp>
      <p:sp>
        <p:nvSpPr>
          <p:cNvPr id="26" name="TextBox 25"/>
          <p:cNvSpPr txBox="1"/>
          <p:nvPr/>
        </p:nvSpPr>
        <p:spPr>
          <a:xfrm>
            <a:off x="9098280" y="4407408"/>
            <a:ext cx="2423160" cy="548640"/>
          </a:xfrm>
          <a:prstGeom prst="rect">
            <a:avLst/>
          </a:prstGeom>
          <a:noFill/>
        </p:spPr>
        <p:txBody>
          <a:bodyPr wrap="square" lIns="18288" rIns="18288" tIns="27432" bIns="0">
            <a:spAutoFit/>
          </a:bodyPr>
          <a:lstStyle/>
          <a:p>
            <a:pPr algn="ctr">
              <a:spcAft>
                <a:spcPts val="1000"/>
              </a:spcAft>
              <a:defRPr sz="1700" b="1">
                <a:solidFill>
                  <a:srgbClr val="194F8E"/>
                </a:solidFill>
                <a:latin typeface="Aptos"/>
              </a:defRPr>
            </a:pPr>
            <a:r>
              <a:t>Hive: Text + RCFile</a:t>
            </a:r>
          </a:p>
        </p:txBody>
      </p:sp>
      <p:sp>
        <p:nvSpPr>
          <p:cNvPr id="27" name="Rectangle 26"/>
          <p:cNvSpPr/>
          <p:nvPr/>
        </p:nvSpPr>
        <p:spPr>
          <a:xfrm>
            <a:off x="594360" y="5212080"/>
            <a:ext cx="10927080" cy="731520"/>
          </a:xfrm>
          <a:prstGeom prst="rect">
            <a:avLst/>
          </a:prstGeom>
          <a:solidFill>
            <a:srgbClr val="14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376672"/>
            <a:ext cx="10561320" cy="457200"/>
          </a:xfrm>
          <a:prstGeom prst="rect">
            <a:avLst/>
          </a:prstGeom>
          <a:noFill/>
        </p:spPr>
        <p:txBody>
          <a:bodyPr wrap="square" lIns="18288" rIns="18288" tIns="27432" bIns="0">
            <a:spAutoFit/>
          </a:bodyPr>
          <a:lstStyle/>
          <a:p>
            <a:pPr algn="ctr">
              <a:spcAft>
                <a:spcPts val="1000"/>
              </a:spcAft>
              <a:defRPr sz="2200" b="1">
                <a:solidFill>
                  <a:srgbClr val="FFFFFF"/>
                </a:solidFill>
                <a:latin typeface="Aptos"/>
              </a:defRPr>
            </a:pPr>
            <a:r>
              <a:t>Check matching answers  →  Save results and timings  →  Flask dashboard</a:t>
            </a:r>
          </a:p>
        </p:txBody>
      </p:sp>
      <p:sp>
        <p:nvSpPr>
          <p:cNvPr id="29" name="TextBox 28"/>
          <p:cNvSpPr txBox="1"/>
          <p:nvPr/>
        </p:nvSpPr>
        <p:spPr>
          <a:xfrm>
            <a:off x="640080" y="6053328"/>
            <a:ext cx="10972800" cy="274320"/>
          </a:xfrm>
          <a:prstGeom prst="rect">
            <a:avLst/>
          </a:prstGeom>
          <a:noFill/>
        </p:spPr>
        <p:txBody>
          <a:bodyPr wrap="square" lIns="18288" rIns="18288" tIns="27432" bIns="0">
            <a:spAutoFit/>
          </a:bodyPr>
          <a:lstStyle/>
          <a:p>
            <a:pPr>
              <a:spcAft>
                <a:spcPts val="1000"/>
              </a:spcAft>
              <a:defRPr sz="1400" b="0">
                <a:solidFill>
                  <a:srgbClr val="596678"/>
                </a:solidFill>
                <a:latin typeface="Aptos"/>
              </a:defRPr>
            </a:pPr>
            <a:r>
              <a:t>MapReduce and Pig read the prepared HDFS data as separate branches.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20040"/>
            <a:ext cx="73152" cy="201168"/>
          </a:xfrm>
          <a:prstGeom prst="rect">
            <a:avLst/>
          </a:prstGeom>
          <a:solidFill>
            <a:srgbClr val="194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65176"/>
            <a:ext cx="10058400" cy="274320"/>
          </a:xfrm>
          <a:prstGeom prst="rect">
            <a:avLst/>
          </a:prstGeom>
          <a:noFill/>
        </p:spPr>
        <p:txBody>
          <a:bodyPr wrap="square" lIns="18288" rIns="18288" tIns="27432" bIns="0">
            <a:spAutoFit/>
          </a:bodyPr>
          <a:lstStyle/>
          <a:p>
            <a:pPr>
              <a:spcAft>
                <a:spcPts val="1000"/>
              </a:spcAft>
              <a:defRPr sz="1100" b="1">
                <a:solidFill>
                  <a:srgbClr val="194F8E"/>
                </a:solidFill>
                <a:latin typeface="Aptos"/>
              </a:defRPr>
            </a:pPr>
            <a:r>
              <a:t>IMPLEMENTATION · THE THREE ASSIGNMENT THEMES</a:t>
            </a:r>
          </a:p>
        </p:txBody>
      </p:sp>
      <p:sp>
        <p:nvSpPr>
          <p:cNvPr id="4" name="TextBox 3"/>
          <p:cNvSpPr txBox="1"/>
          <p:nvPr/>
        </p:nvSpPr>
        <p:spPr>
          <a:xfrm>
            <a:off x="521207" y="777240"/>
            <a:ext cx="11064240" cy="914400"/>
          </a:xfrm>
          <a:prstGeom prst="rect">
            <a:avLst/>
          </a:prstGeom>
          <a:noFill/>
        </p:spPr>
        <p:txBody>
          <a:bodyPr wrap="square" lIns="18288" rIns="18288" tIns="27432" bIns="0">
            <a:spAutoFit/>
          </a:bodyPr>
          <a:lstStyle/>
          <a:p>
            <a:pPr>
              <a:spcAft>
                <a:spcPts val="1000"/>
              </a:spcAft>
              <a:defRPr sz="3000" b="1">
                <a:solidFill>
                  <a:srgbClr val="14284B"/>
                </a:solidFill>
                <a:latin typeface="Aptos"/>
              </a:defRPr>
            </a:pPr>
            <a:r>
              <a:t>Each tool produces a result we can demonstrate</a:t>
            </a:r>
          </a:p>
        </p:txBody>
      </p:sp>
      <p:sp>
        <p:nvSpPr>
          <p:cNvPr id="5" name="Rectangle 4"/>
          <p:cNvSpPr/>
          <p:nvPr/>
        </p:nvSpPr>
        <p:spPr>
          <a:xfrm>
            <a:off x="548640" y="6428232"/>
            <a:ext cx="11064240" cy="10972"/>
          </a:xfrm>
          <a:prstGeom prst="rect">
            <a:avLst/>
          </a:prstGeom>
          <a:solidFill>
            <a:srgbClr val="D8E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058400" cy="228600"/>
          </a:xfrm>
          <a:prstGeom prst="rect">
            <a:avLst/>
          </a:prstGeom>
          <a:noFill/>
        </p:spPr>
        <p:txBody>
          <a:bodyPr wrap="square" lIns="18288" rIns="18288" tIns="27432" bIns="0">
            <a:spAutoFit/>
          </a:bodyPr>
          <a:lstStyle/>
          <a:p>
            <a:pPr>
              <a:spcAft>
                <a:spcPts val="1000"/>
              </a:spcAft>
              <a:defRPr sz="900" b="0">
                <a:solidFill>
                  <a:srgbClr val="596678"/>
                </a:solidFill>
                <a:latin typeface="Aptos"/>
              </a:defRPr>
            </a:pPr>
            <a:r>
              <a:t>USDA FOODDATA CENTRAL  /  BCS714D · TRACK B</a:t>
            </a:r>
          </a:p>
        </p:txBody>
      </p:sp>
      <p:sp>
        <p:nvSpPr>
          <p:cNvPr id="7" name="TextBox 6"/>
          <p:cNvSpPr txBox="1"/>
          <p:nvPr/>
        </p:nvSpPr>
        <p:spPr>
          <a:xfrm>
            <a:off x="10972800" y="6492240"/>
            <a:ext cx="594360" cy="228600"/>
          </a:xfrm>
          <a:prstGeom prst="rect">
            <a:avLst/>
          </a:prstGeom>
          <a:noFill/>
        </p:spPr>
        <p:txBody>
          <a:bodyPr wrap="square" lIns="18288" rIns="18288" tIns="27432" bIns="0">
            <a:spAutoFit/>
          </a:bodyPr>
          <a:lstStyle/>
          <a:p>
            <a:pPr algn="r">
              <a:spcAft>
                <a:spcPts val="1000"/>
              </a:spcAft>
              <a:defRPr sz="1000" b="1">
                <a:solidFill>
                  <a:srgbClr val="194F8E"/>
                </a:solidFill>
                <a:latin typeface="Aptos"/>
              </a:defRPr>
            </a:pPr>
            <a:r>
              <a:t>05</a:t>
            </a:r>
          </a:p>
        </p:txBody>
      </p:sp>
      <p:sp>
        <p:nvSpPr>
          <p:cNvPr id="8" name="Rectangle 7"/>
          <p:cNvSpPr/>
          <p:nvPr/>
        </p:nvSpPr>
        <p:spPr>
          <a:xfrm>
            <a:off x="594360" y="1828800"/>
            <a:ext cx="10972800" cy="566928"/>
          </a:xfrm>
          <a:prstGeom prst="rect">
            <a:avLst/>
          </a:prstGeom>
          <a:solidFill>
            <a:srgbClr val="14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20240"/>
            <a:ext cx="1874519" cy="438912"/>
          </a:xfrm>
          <a:prstGeom prst="rect">
            <a:avLst/>
          </a:prstGeom>
          <a:noFill/>
        </p:spPr>
        <p:txBody>
          <a:bodyPr wrap="square" lIns="18288" rIns="18288" tIns="27432" bIns="0">
            <a:spAutoFit/>
          </a:bodyPr>
          <a:lstStyle/>
          <a:p>
            <a:pPr>
              <a:spcAft>
                <a:spcPts val="1000"/>
              </a:spcAft>
              <a:defRPr sz="1700" b="1">
                <a:solidFill>
                  <a:srgbClr val="FFFFFF"/>
                </a:solidFill>
                <a:latin typeface="Aptos"/>
              </a:defRPr>
            </a:pPr>
            <a:r>
              <a:t>Theme</a:t>
            </a:r>
          </a:p>
        </p:txBody>
      </p:sp>
      <p:sp>
        <p:nvSpPr>
          <p:cNvPr id="10" name="TextBox 9"/>
          <p:cNvSpPr txBox="1"/>
          <p:nvPr/>
        </p:nvSpPr>
        <p:spPr>
          <a:xfrm>
            <a:off x="2834639" y="1920240"/>
            <a:ext cx="4434840" cy="438912"/>
          </a:xfrm>
          <a:prstGeom prst="rect">
            <a:avLst/>
          </a:prstGeom>
          <a:noFill/>
        </p:spPr>
        <p:txBody>
          <a:bodyPr wrap="square" lIns="18288" rIns="18288" tIns="27432" bIns="0">
            <a:spAutoFit/>
          </a:bodyPr>
          <a:lstStyle/>
          <a:p>
            <a:pPr>
              <a:spcAft>
                <a:spcPts val="1000"/>
              </a:spcAft>
              <a:defRPr sz="1700" b="1">
                <a:solidFill>
                  <a:srgbClr val="FFFFFF"/>
                </a:solidFill>
                <a:latin typeface="Aptos"/>
              </a:defRPr>
            </a:pPr>
            <a:r>
              <a:t>What our program does</a:t>
            </a:r>
          </a:p>
        </p:txBody>
      </p:sp>
      <p:sp>
        <p:nvSpPr>
          <p:cNvPr id="11" name="TextBox 10"/>
          <p:cNvSpPr txBox="1"/>
          <p:nvPr/>
        </p:nvSpPr>
        <p:spPr>
          <a:xfrm>
            <a:off x="7498079" y="1920240"/>
            <a:ext cx="3977639" cy="438912"/>
          </a:xfrm>
          <a:prstGeom prst="rect">
            <a:avLst/>
          </a:prstGeom>
          <a:noFill/>
        </p:spPr>
        <p:txBody>
          <a:bodyPr wrap="square" lIns="18288" rIns="18288" tIns="27432" bIns="0">
            <a:spAutoFit/>
          </a:bodyPr>
          <a:lstStyle/>
          <a:p>
            <a:pPr>
              <a:spcAft>
                <a:spcPts val="1000"/>
              </a:spcAft>
              <a:defRPr sz="1700" b="1">
                <a:solidFill>
                  <a:srgbClr val="FFFFFF"/>
                </a:solidFill>
                <a:latin typeface="Aptos"/>
              </a:defRPr>
            </a:pPr>
            <a:r>
              <a:t>What we can show</a:t>
            </a:r>
          </a:p>
        </p:txBody>
      </p:sp>
      <p:sp>
        <p:nvSpPr>
          <p:cNvPr id="12" name="Rectangle 11"/>
          <p:cNvSpPr/>
          <p:nvPr/>
        </p:nvSpPr>
        <p:spPr>
          <a:xfrm>
            <a:off x="594360" y="2395728"/>
            <a:ext cx="10972800" cy="56692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487168"/>
            <a:ext cx="1874519"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1 · MongoDB</a:t>
            </a:r>
          </a:p>
        </p:txBody>
      </p:sp>
      <p:sp>
        <p:nvSpPr>
          <p:cNvPr id="14" name="TextBox 13"/>
          <p:cNvSpPr txBox="1"/>
          <p:nvPr/>
        </p:nvSpPr>
        <p:spPr>
          <a:xfrm>
            <a:off x="2834639" y="2487168"/>
            <a:ext cx="4434840"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Import, index and aggregate documents</a:t>
            </a:r>
          </a:p>
        </p:txBody>
      </p:sp>
      <p:sp>
        <p:nvSpPr>
          <p:cNvPr id="15" name="TextBox 14"/>
          <p:cNvSpPr txBox="1"/>
          <p:nvPr/>
        </p:nvSpPr>
        <p:spPr>
          <a:xfrm>
            <a:off x="7498079" y="2487168"/>
            <a:ext cx="3977639"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Raw records → grouped answers</a:t>
            </a:r>
          </a:p>
        </p:txBody>
      </p:sp>
      <p:sp>
        <p:nvSpPr>
          <p:cNvPr id="16" name="Rectangle 15"/>
          <p:cNvSpPr/>
          <p:nvPr/>
        </p:nvSpPr>
        <p:spPr>
          <a:xfrm>
            <a:off x="594360" y="2962656"/>
            <a:ext cx="10972800" cy="56692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054096"/>
            <a:ext cx="1874519"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2 · Hadoop</a:t>
            </a:r>
          </a:p>
        </p:txBody>
      </p:sp>
      <p:sp>
        <p:nvSpPr>
          <p:cNvPr id="18" name="TextBox 17"/>
          <p:cNvSpPr txBox="1"/>
          <p:nvPr/>
        </p:nvSpPr>
        <p:spPr>
          <a:xfrm>
            <a:off x="2834639" y="3054096"/>
            <a:ext cx="4434840"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HDFS files; MapReduce on YARN</a:t>
            </a:r>
          </a:p>
        </p:txBody>
      </p:sp>
      <p:sp>
        <p:nvSpPr>
          <p:cNvPr id="19" name="TextBox 18"/>
          <p:cNvSpPr txBox="1"/>
          <p:nvPr/>
        </p:nvSpPr>
        <p:spPr>
          <a:xfrm>
            <a:off x="7498079" y="3054096"/>
            <a:ext cx="3977639"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Files → nutrient summaries</a:t>
            </a:r>
          </a:p>
        </p:txBody>
      </p:sp>
      <p:sp>
        <p:nvSpPr>
          <p:cNvPr id="20" name="Rectangle 19"/>
          <p:cNvSpPr/>
          <p:nvPr/>
        </p:nvSpPr>
        <p:spPr>
          <a:xfrm>
            <a:off x="594360" y="3529584"/>
            <a:ext cx="10972800" cy="56692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621024"/>
            <a:ext cx="1874519"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3 · Pig + Hive</a:t>
            </a:r>
          </a:p>
        </p:txBody>
      </p:sp>
      <p:sp>
        <p:nvSpPr>
          <p:cNvPr id="22" name="TextBox 21"/>
          <p:cNvSpPr txBox="1"/>
          <p:nvPr/>
        </p:nvSpPr>
        <p:spPr>
          <a:xfrm>
            <a:off x="2834639" y="3621024"/>
            <a:ext cx="4434840"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Clean data; compare Text and RCFile</a:t>
            </a:r>
          </a:p>
        </p:txBody>
      </p:sp>
      <p:sp>
        <p:nvSpPr>
          <p:cNvPr id="23" name="TextBox 22"/>
          <p:cNvSpPr txBox="1"/>
          <p:nvPr/>
        </p:nvSpPr>
        <p:spPr>
          <a:xfrm>
            <a:off x="7498079" y="3621024"/>
            <a:ext cx="3977639"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Clean rows → query answers</a:t>
            </a:r>
          </a:p>
        </p:txBody>
      </p:sp>
      <p:sp>
        <p:nvSpPr>
          <p:cNvPr id="24" name="TextBox 23"/>
          <p:cNvSpPr txBox="1"/>
          <p:nvPr/>
        </p:nvSpPr>
        <p:spPr>
          <a:xfrm>
            <a:off x="685800" y="4462272"/>
            <a:ext cx="10789920" cy="594360"/>
          </a:xfrm>
          <a:prstGeom prst="rect">
            <a:avLst/>
          </a:prstGeom>
          <a:noFill/>
        </p:spPr>
        <p:txBody>
          <a:bodyPr wrap="square" lIns="18288" rIns="18288" tIns="27432" bIns="0">
            <a:spAutoFit/>
          </a:bodyPr>
          <a:lstStyle/>
          <a:p>
            <a:pPr>
              <a:spcAft>
                <a:spcPts val="1000"/>
              </a:spcAft>
              <a:defRPr sz="2100" b="1">
                <a:solidFill>
                  <a:srgbClr val="194F8E"/>
                </a:solidFill>
                <a:latin typeface="Aptos"/>
              </a:defRPr>
            </a:pPr>
            <a:r>
              <a:t>MongoDB pipelines use $match, $group, $project, $unwind and $facet.</a:t>
            </a:r>
          </a:p>
        </p:txBody>
      </p:sp>
      <p:sp>
        <p:nvSpPr>
          <p:cNvPr id="25" name="TextBox 24"/>
          <p:cNvSpPr txBox="1"/>
          <p:nvPr/>
        </p:nvSpPr>
        <p:spPr>
          <a:xfrm>
            <a:off x="685800" y="5166360"/>
            <a:ext cx="10789920" cy="731520"/>
          </a:xfrm>
          <a:prstGeom prst="rect">
            <a:avLst/>
          </a:prstGeom>
          <a:noFill/>
        </p:spPr>
        <p:txBody>
          <a:bodyPr wrap="square" lIns="18288" rIns="18288" tIns="27432" bIns="0">
            <a:spAutoFit/>
          </a:bodyPr>
          <a:lstStyle/>
          <a:p>
            <a:pPr>
              <a:spcAft>
                <a:spcPts val="1000"/>
              </a:spcAft>
              <a:defRPr sz="2000" b="0">
                <a:solidFill>
                  <a:srgbClr val="2A3140"/>
                </a:solidFill>
                <a:latin typeface="Aptos"/>
              </a:defRPr>
            </a:pPr>
            <a:r>
              <a:t>HDFS demonstrates mkdir, put, cat, get and rm -r.</a:t>
            </a:r>
          </a:p>
          <a:p>
            <a:pPr>
              <a:spcAft>
                <a:spcPts val="1000"/>
              </a:spcAft>
              <a:defRPr sz="2000" b="0">
                <a:solidFill>
                  <a:srgbClr val="2A3140"/>
                </a:solidFill>
                <a:latin typeface="Aptos"/>
              </a:defRPr>
            </a:pPr>
            <a:r>
              <a:t>Hive runs identical questions on both formats and records time and storage.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20040"/>
            <a:ext cx="73152" cy="201168"/>
          </a:xfrm>
          <a:prstGeom prst="rect">
            <a:avLst/>
          </a:prstGeom>
          <a:solidFill>
            <a:srgbClr val="194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65176"/>
            <a:ext cx="10058400" cy="274320"/>
          </a:xfrm>
          <a:prstGeom prst="rect">
            <a:avLst/>
          </a:prstGeom>
          <a:noFill/>
        </p:spPr>
        <p:txBody>
          <a:bodyPr wrap="square" lIns="18288" rIns="18288" tIns="27432" bIns="0">
            <a:spAutoFit/>
          </a:bodyPr>
          <a:lstStyle/>
          <a:p>
            <a:pPr>
              <a:spcAft>
                <a:spcPts val="1000"/>
              </a:spcAft>
              <a:defRPr sz="1100" b="1">
                <a:solidFill>
                  <a:srgbClr val="194F8E"/>
                </a:solidFill>
                <a:latin typeface="Aptos"/>
              </a:defRPr>
            </a:pPr>
            <a:r>
              <a:t>RESULTS · RECORDED 50,000-FOOD DEVELOPMENT RUN</a:t>
            </a:r>
          </a:p>
        </p:txBody>
      </p:sp>
      <p:sp>
        <p:nvSpPr>
          <p:cNvPr id="4" name="TextBox 3"/>
          <p:cNvSpPr txBox="1"/>
          <p:nvPr/>
        </p:nvSpPr>
        <p:spPr>
          <a:xfrm>
            <a:off x="521207" y="777240"/>
            <a:ext cx="11064240" cy="914400"/>
          </a:xfrm>
          <a:prstGeom prst="rect">
            <a:avLst/>
          </a:prstGeom>
          <a:noFill/>
        </p:spPr>
        <p:txBody>
          <a:bodyPr wrap="square" lIns="18288" rIns="18288" tIns="27432" bIns="0">
            <a:spAutoFit/>
          </a:bodyPr>
          <a:lstStyle/>
          <a:p>
            <a:pPr>
              <a:spcAft>
                <a:spcPts val="1000"/>
              </a:spcAft>
              <a:defRPr sz="3000" b="1">
                <a:solidFill>
                  <a:srgbClr val="14284B"/>
                </a:solidFill>
                <a:latin typeface="Aptos"/>
              </a:defRPr>
            </a:pPr>
            <a:r>
              <a:t>The index checks 1 document instead of 50,000</a:t>
            </a:r>
          </a:p>
        </p:txBody>
      </p:sp>
      <p:sp>
        <p:nvSpPr>
          <p:cNvPr id="5" name="Rectangle 4"/>
          <p:cNvSpPr/>
          <p:nvPr/>
        </p:nvSpPr>
        <p:spPr>
          <a:xfrm>
            <a:off x="548640" y="6428232"/>
            <a:ext cx="11064240" cy="10972"/>
          </a:xfrm>
          <a:prstGeom prst="rect">
            <a:avLst/>
          </a:prstGeom>
          <a:solidFill>
            <a:srgbClr val="D8E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058400" cy="228600"/>
          </a:xfrm>
          <a:prstGeom prst="rect">
            <a:avLst/>
          </a:prstGeom>
          <a:noFill/>
        </p:spPr>
        <p:txBody>
          <a:bodyPr wrap="square" lIns="18288" rIns="18288" tIns="27432" bIns="0">
            <a:spAutoFit/>
          </a:bodyPr>
          <a:lstStyle/>
          <a:p>
            <a:pPr>
              <a:spcAft>
                <a:spcPts val="1000"/>
              </a:spcAft>
              <a:defRPr sz="900" b="0">
                <a:solidFill>
                  <a:srgbClr val="596678"/>
                </a:solidFill>
                <a:latin typeface="Aptos"/>
              </a:defRPr>
            </a:pPr>
            <a:r>
              <a:t>USDA FOODDATA CENTRAL  /  BCS714D · TRACK B</a:t>
            </a:r>
          </a:p>
        </p:txBody>
      </p:sp>
      <p:sp>
        <p:nvSpPr>
          <p:cNvPr id="7" name="TextBox 6"/>
          <p:cNvSpPr txBox="1"/>
          <p:nvPr/>
        </p:nvSpPr>
        <p:spPr>
          <a:xfrm>
            <a:off x="10972800" y="6492240"/>
            <a:ext cx="594360" cy="228600"/>
          </a:xfrm>
          <a:prstGeom prst="rect">
            <a:avLst/>
          </a:prstGeom>
          <a:noFill/>
        </p:spPr>
        <p:txBody>
          <a:bodyPr wrap="square" lIns="18288" rIns="18288" tIns="27432" bIns="0">
            <a:spAutoFit/>
          </a:bodyPr>
          <a:lstStyle/>
          <a:p>
            <a:pPr algn="r">
              <a:spcAft>
                <a:spcPts val="1000"/>
              </a:spcAft>
              <a:defRPr sz="1000" b="1">
                <a:solidFill>
                  <a:srgbClr val="194F8E"/>
                </a:solidFill>
                <a:latin typeface="Aptos"/>
              </a:defRPr>
            </a:pPr>
            <a:r>
              <a:t>06</a:t>
            </a:r>
          </a:p>
        </p:txBody>
      </p:sp>
      <p:sp>
        <p:nvSpPr>
          <p:cNvPr id="8" name="Rectangle 7"/>
          <p:cNvSpPr/>
          <p:nvPr/>
        </p:nvSpPr>
        <p:spPr>
          <a:xfrm>
            <a:off x="594360" y="1856231"/>
            <a:ext cx="10972800" cy="566928"/>
          </a:xfrm>
          <a:prstGeom prst="rect">
            <a:avLst/>
          </a:prstGeom>
          <a:solidFill>
            <a:srgbClr val="14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47672"/>
            <a:ext cx="4434840" cy="438912"/>
          </a:xfrm>
          <a:prstGeom prst="rect">
            <a:avLst/>
          </a:prstGeom>
          <a:noFill/>
        </p:spPr>
        <p:txBody>
          <a:bodyPr wrap="square" lIns="18288" rIns="18288" tIns="27432" bIns="0">
            <a:spAutoFit/>
          </a:bodyPr>
          <a:lstStyle/>
          <a:p>
            <a:pPr>
              <a:spcAft>
                <a:spcPts val="1000"/>
              </a:spcAft>
              <a:defRPr sz="1700" b="1">
                <a:solidFill>
                  <a:srgbClr val="FFFFFF"/>
                </a:solidFill>
                <a:latin typeface="Aptos"/>
              </a:defRPr>
            </a:pPr>
            <a:r>
              <a:t>Same MongoDB lookup</a:t>
            </a:r>
          </a:p>
        </p:txBody>
      </p:sp>
      <p:sp>
        <p:nvSpPr>
          <p:cNvPr id="10" name="TextBox 9"/>
          <p:cNvSpPr txBox="1"/>
          <p:nvPr/>
        </p:nvSpPr>
        <p:spPr>
          <a:xfrm>
            <a:off x="5394960" y="1947672"/>
            <a:ext cx="3108960" cy="438912"/>
          </a:xfrm>
          <a:prstGeom prst="rect">
            <a:avLst/>
          </a:prstGeom>
          <a:noFill/>
        </p:spPr>
        <p:txBody>
          <a:bodyPr wrap="square" lIns="18288" rIns="18288" tIns="27432" bIns="0">
            <a:spAutoFit/>
          </a:bodyPr>
          <a:lstStyle/>
          <a:p>
            <a:pPr>
              <a:spcAft>
                <a:spcPts val="1000"/>
              </a:spcAft>
              <a:defRPr sz="1700" b="1">
                <a:solidFill>
                  <a:srgbClr val="FFFFFF"/>
                </a:solidFill>
                <a:latin typeface="Aptos"/>
              </a:defRPr>
            </a:pPr>
            <a:r>
              <a:t>Documents examined</a:t>
            </a:r>
          </a:p>
        </p:txBody>
      </p:sp>
      <p:sp>
        <p:nvSpPr>
          <p:cNvPr id="11" name="TextBox 10"/>
          <p:cNvSpPr txBox="1"/>
          <p:nvPr/>
        </p:nvSpPr>
        <p:spPr>
          <a:xfrm>
            <a:off x="8732520" y="1947672"/>
            <a:ext cx="2743200" cy="438912"/>
          </a:xfrm>
          <a:prstGeom prst="rect">
            <a:avLst/>
          </a:prstGeom>
          <a:noFill/>
        </p:spPr>
        <p:txBody>
          <a:bodyPr wrap="square" lIns="18288" rIns="18288" tIns="27432" bIns="0">
            <a:spAutoFit/>
          </a:bodyPr>
          <a:lstStyle/>
          <a:p>
            <a:pPr>
              <a:spcAft>
                <a:spcPts val="1000"/>
              </a:spcAft>
              <a:defRPr sz="1700" b="1">
                <a:solidFill>
                  <a:srgbClr val="FFFFFF"/>
                </a:solidFill>
                <a:latin typeface="Aptos"/>
              </a:defRPr>
            </a:pPr>
            <a:r>
              <a:t>Results returned</a:t>
            </a:r>
          </a:p>
        </p:txBody>
      </p:sp>
      <p:sp>
        <p:nvSpPr>
          <p:cNvPr id="12" name="Rectangle 11"/>
          <p:cNvSpPr/>
          <p:nvPr/>
        </p:nvSpPr>
        <p:spPr>
          <a:xfrm>
            <a:off x="594360" y="2423160"/>
            <a:ext cx="10972800" cy="56692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14600"/>
            <a:ext cx="4434840"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Collection scan</a:t>
            </a:r>
          </a:p>
        </p:txBody>
      </p:sp>
      <p:sp>
        <p:nvSpPr>
          <p:cNvPr id="14" name="TextBox 13"/>
          <p:cNvSpPr txBox="1"/>
          <p:nvPr/>
        </p:nvSpPr>
        <p:spPr>
          <a:xfrm>
            <a:off x="5394960" y="2514600"/>
            <a:ext cx="3108960"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50,000</a:t>
            </a:r>
          </a:p>
        </p:txBody>
      </p:sp>
      <p:sp>
        <p:nvSpPr>
          <p:cNvPr id="15" name="TextBox 14"/>
          <p:cNvSpPr txBox="1"/>
          <p:nvPr/>
        </p:nvSpPr>
        <p:spPr>
          <a:xfrm>
            <a:off x="8732520" y="2514600"/>
            <a:ext cx="2743200"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1</a:t>
            </a:r>
          </a:p>
        </p:txBody>
      </p:sp>
      <p:sp>
        <p:nvSpPr>
          <p:cNvPr id="16" name="Rectangle 15"/>
          <p:cNvSpPr/>
          <p:nvPr/>
        </p:nvSpPr>
        <p:spPr>
          <a:xfrm>
            <a:off x="594360" y="2990087"/>
            <a:ext cx="10972800" cy="56692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081527"/>
            <a:ext cx="4434840"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Indexed lookup</a:t>
            </a:r>
          </a:p>
        </p:txBody>
      </p:sp>
      <p:sp>
        <p:nvSpPr>
          <p:cNvPr id="18" name="TextBox 17"/>
          <p:cNvSpPr txBox="1"/>
          <p:nvPr/>
        </p:nvSpPr>
        <p:spPr>
          <a:xfrm>
            <a:off x="5394960" y="3081527"/>
            <a:ext cx="3108960"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1</a:t>
            </a:r>
          </a:p>
        </p:txBody>
      </p:sp>
      <p:sp>
        <p:nvSpPr>
          <p:cNvPr id="19" name="TextBox 18"/>
          <p:cNvSpPr txBox="1"/>
          <p:nvPr/>
        </p:nvSpPr>
        <p:spPr>
          <a:xfrm>
            <a:off x="8732520" y="3081527"/>
            <a:ext cx="2743200" cy="438912"/>
          </a:xfrm>
          <a:prstGeom prst="rect">
            <a:avLst/>
          </a:prstGeom>
          <a:noFill/>
        </p:spPr>
        <p:txBody>
          <a:bodyPr wrap="square" lIns="18288" rIns="18288" tIns="27432" bIns="0">
            <a:spAutoFit/>
          </a:bodyPr>
          <a:lstStyle/>
          <a:p>
            <a:pPr>
              <a:spcAft>
                <a:spcPts val="1000"/>
              </a:spcAft>
              <a:defRPr sz="1700" b="0">
                <a:solidFill>
                  <a:srgbClr val="2A3140"/>
                </a:solidFill>
                <a:latin typeface="Aptos"/>
              </a:defRPr>
            </a:pPr>
            <a:r>
              <a:t>1</a:t>
            </a:r>
          </a:p>
        </p:txBody>
      </p:sp>
      <p:sp>
        <p:nvSpPr>
          <p:cNvPr id="20" name="TextBox 19"/>
          <p:cNvSpPr txBox="1"/>
          <p:nvPr/>
        </p:nvSpPr>
        <p:spPr>
          <a:xfrm>
            <a:off x="685800" y="3886200"/>
            <a:ext cx="10789920" cy="594360"/>
          </a:xfrm>
          <a:prstGeom prst="rect">
            <a:avLst/>
          </a:prstGeom>
          <a:noFill/>
        </p:spPr>
        <p:txBody>
          <a:bodyPr wrap="square" lIns="18288" rIns="18288" tIns="27432" bIns="0">
            <a:spAutoFit/>
          </a:bodyPr>
          <a:lstStyle/>
          <a:p>
            <a:pPr>
              <a:spcAft>
                <a:spcPts val="1000"/>
              </a:spcAft>
              <a:defRPr sz="2600" b="1">
                <a:solidFill>
                  <a:srgbClr val="194F8E"/>
                </a:solidFill>
                <a:latin typeface="Aptos"/>
              </a:defRPr>
            </a:pPr>
            <a:r>
              <a:t>The answer stays the same; the amount of searching changes.</a:t>
            </a:r>
          </a:p>
        </p:txBody>
      </p:sp>
      <p:sp>
        <p:nvSpPr>
          <p:cNvPr id="21" name="TextBox 20"/>
          <p:cNvSpPr txBox="1"/>
          <p:nvPr/>
        </p:nvSpPr>
        <p:spPr>
          <a:xfrm>
            <a:off x="685800" y="4645152"/>
            <a:ext cx="10789920" cy="640080"/>
          </a:xfrm>
          <a:prstGeom prst="rect">
            <a:avLst/>
          </a:prstGeom>
          <a:noFill/>
        </p:spPr>
        <p:txBody>
          <a:bodyPr wrap="square" lIns="18288" rIns="18288" tIns="27432" bIns="0">
            <a:spAutoFit/>
          </a:bodyPr>
          <a:lstStyle/>
          <a:p>
            <a:pPr>
              <a:spcAft>
                <a:spcPts val="1000"/>
              </a:spcAft>
              <a:defRPr sz="2200" b="0">
                <a:solidFill>
                  <a:srgbClr val="2A3140"/>
                </a:solidFill>
                <a:latin typeface="Aptos"/>
              </a:defRPr>
            </a:pPr>
            <a:r>
              <a:t>The 50,000-food test also passed cross-system reconciliation for</a:t>
            </a:r>
          </a:p>
          <a:p>
            <a:pPr>
              <a:spcAft>
                <a:spcPts val="1000"/>
              </a:spcAft>
              <a:defRPr sz="2200" b="0">
                <a:solidFill>
                  <a:srgbClr val="2A3140"/>
                </a:solidFill>
                <a:latin typeface="Aptos"/>
              </a:defRPr>
            </a:pPr>
            <a:r>
              <a:t>1,126,928 linked nutrient records.</a:t>
            </a:r>
          </a:p>
        </p:txBody>
      </p:sp>
      <p:sp>
        <p:nvSpPr>
          <p:cNvPr id="22" name="TextBox 21"/>
          <p:cNvSpPr txBox="1"/>
          <p:nvPr/>
        </p:nvSpPr>
        <p:spPr>
          <a:xfrm>
            <a:off x="685800" y="5596128"/>
            <a:ext cx="10789920" cy="594360"/>
          </a:xfrm>
          <a:prstGeom prst="rect">
            <a:avLst/>
          </a:prstGeom>
          <a:noFill/>
        </p:spPr>
        <p:txBody>
          <a:bodyPr wrap="square" lIns="18288" rIns="18288" tIns="27432" bIns="0">
            <a:spAutoFit/>
          </a:bodyPr>
          <a:lstStyle/>
          <a:p>
            <a:pPr>
              <a:spcAft>
                <a:spcPts val="1000"/>
              </a:spcAft>
              <a:defRPr sz="1700" b="0">
                <a:solidFill>
                  <a:srgbClr val="596678"/>
                </a:solidFill>
                <a:latin typeface="Aptos"/>
              </a:defRPr>
            </a:pPr>
            <a:r>
              <a:t>Hive comparison: identical answers are checked first, then query time and storage are compared.</a:t>
            </a:r>
          </a:p>
          <a:p>
            <a:pPr>
              <a:spcAft>
                <a:spcPts val="1000"/>
              </a:spcAft>
              <a:defRPr sz="1700" b="0">
                <a:solidFill>
                  <a:srgbClr val="596678"/>
                </a:solidFill>
                <a:latin typeface="Aptos"/>
              </a:defRPr>
            </a:pPr>
            <a:r>
              <a:t>These results describe the laptop development run, not a completed physical lab run.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20040"/>
            <a:ext cx="73152" cy="201168"/>
          </a:xfrm>
          <a:prstGeom prst="rect">
            <a:avLst/>
          </a:prstGeom>
          <a:solidFill>
            <a:srgbClr val="194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65176"/>
            <a:ext cx="10058400" cy="274320"/>
          </a:xfrm>
          <a:prstGeom prst="rect">
            <a:avLst/>
          </a:prstGeom>
          <a:noFill/>
        </p:spPr>
        <p:txBody>
          <a:bodyPr wrap="square" lIns="18288" rIns="18288" tIns="27432" bIns="0">
            <a:spAutoFit/>
          </a:bodyPr>
          <a:lstStyle/>
          <a:p>
            <a:pPr>
              <a:spcAft>
                <a:spcPts val="1000"/>
              </a:spcAft>
              <a:defRPr sz="1100" b="1">
                <a:solidFill>
                  <a:srgbClr val="194F8E"/>
                </a:solidFill>
                <a:latin typeface="Aptos"/>
              </a:defRPr>
            </a:pPr>
            <a:r>
              <a:t>TRACK B EXTENSION · FLASK DASHBOARD</a:t>
            </a:r>
          </a:p>
        </p:txBody>
      </p:sp>
      <p:sp>
        <p:nvSpPr>
          <p:cNvPr id="4" name="TextBox 3"/>
          <p:cNvSpPr txBox="1"/>
          <p:nvPr/>
        </p:nvSpPr>
        <p:spPr>
          <a:xfrm>
            <a:off x="521207" y="777240"/>
            <a:ext cx="11064240" cy="914400"/>
          </a:xfrm>
          <a:prstGeom prst="rect">
            <a:avLst/>
          </a:prstGeom>
          <a:noFill/>
        </p:spPr>
        <p:txBody>
          <a:bodyPr wrap="square" lIns="18288" rIns="18288" tIns="27432" bIns="0">
            <a:spAutoFit/>
          </a:bodyPr>
          <a:lstStyle/>
          <a:p>
            <a:pPr>
              <a:spcAft>
                <a:spcPts val="1000"/>
              </a:spcAft>
              <a:defRPr sz="3000" b="1">
                <a:solidFill>
                  <a:srgbClr val="14284B"/>
                </a:solidFill>
                <a:latin typeface="Aptos"/>
              </a:defRPr>
            </a:pPr>
            <a:r>
              <a:t>The demo shows the data, the answers and the proof</a:t>
            </a:r>
          </a:p>
        </p:txBody>
      </p:sp>
      <p:sp>
        <p:nvSpPr>
          <p:cNvPr id="5" name="Rectangle 4"/>
          <p:cNvSpPr/>
          <p:nvPr/>
        </p:nvSpPr>
        <p:spPr>
          <a:xfrm>
            <a:off x="548640" y="6428232"/>
            <a:ext cx="11064240" cy="10972"/>
          </a:xfrm>
          <a:prstGeom prst="rect">
            <a:avLst/>
          </a:prstGeom>
          <a:solidFill>
            <a:srgbClr val="D8E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058400" cy="228600"/>
          </a:xfrm>
          <a:prstGeom prst="rect">
            <a:avLst/>
          </a:prstGeom>
          <a:noFill/>
        </p:spPr>
        <p:txBody>
          <a:bodyPr wrap="square" lIns="18288" rIns="18288" tIns="27432" bIns="0">
            <a:spAutoFit/>
          </a:bodyPr>
          <a:lstStyle/>
          <a:p>
            <a:pPr>
              <a:spcAft>
                <a:spcPts val="1000"/>
              </a:spcAft>
              <a:defRPr sz="900" b="0">
                <a:solidFill>
                  <a:srgbClr val="596678"/>
                </a:solidFill>
                <a:latin typeface="Aptos"/>
              </a:defRPr>
            </a:pPr>
            <a:r>
              <a:t>USDA FOODDATA CENTRAL  /  BCS714D · TRACK B</a:t>
            </a:r>
          </a:p>
        </p:txBody>
      </p:sp>
      <p:sp>
        <p:nvSpPr>
          <p:cNvPr id="7" name="TextBox 6"/>
          <p:cNvSpPr txBox="1"/>
          <p:nvPr/>
        </p:nvSpPr>
        <p:spPr>
          <a:xfrm>
            <a:off x="10972800" y="6492240"/>
            <a:ext cx="594360" cy="228600"/>
          </a:xfrm>
          <a:prstGeom prst="rect">
            <a:avLst/>
          </a:prstGeom>
          <a:noFill/>
        </p:spPr>
        <p:txBody>
          <a:bodyPr wrap="square" lIns="18288" rIns="18288" tIns="27432" bIns="0">
            <a:spAutoFit/>
          </a:bodyPr>
          <a:lstStyle/>
          <a:p>
            <a:pPr algn="r">
              <a:spcAft>
                <a:spcPts val="1000"/>
              </a:spcAft>
              <a:defRPr sz="1000" b="1">
                <a:solidFill>
                  <a:srgbClr val="194F8E"/>
                </a:solidFill>
                <a:latin typeface="Aptos"/>
              </a:defRPr>
            </a:pPr>
            <a:r>
              <a:t>07</a:t>
            </a:r>
          </a:p>
        </p:txBody>
      </p:sp>
      <p:sp>
        <p:nvSpPr>
          <p:cNvPr id="8" name="TextBox 7"/>
          <p:cNvSpPr txBox="1"/>
          <p:nvPr/>
        </p:nvSpPr>
        <p:spPr>
          <a:xfrm>
            <a:off x="594360" y="1828800"/>
            <a:ext cx="594360" cy="594360"/>
          </a:xfrm>
          <a:prstGeom prst="rect">
            <a:avLst/>
          </a:prstGeom>
          <a:noFill/>
        </p:spPr>
        <p:txBody>
          <a:bodyPr wrap="square" lIns="18288" rIns="18288" tIns="27432" bIns="0">
            <a:spAutoFit/>
          </a:bodyPr>
          <a:lstStyle/>
          <a:p>
            <a:pPr>
              <a:spcAft>
                <a:spcPts val="1000"/>
              </a:spcAft>
              <a:defRPr sz="2700" b="1">
                <a:solidFill>
                  <a:srgbClr val="194F8E"/>
                </a:solidFill>
                <a:latin typeface="Aptos"/>
              </a:defRPr>
            </a:pPr>
            <a:r>
              <a:t>01</a:t>
            </a:r>
          </a:p>
        </p:txBody>
      </p:sp>
      <p:sp>
        <p:nvSpPr>
          <p:cNvPr id="9" name="TextBox 8"/>
          <p:cNvSpPr txBox="1"/>
          <p:nvPr/>
        </p:nvSpPr>
        <p:spPr>
          <a:xfrm>
            <a:off x="1371600" y="1828800"/>
            <a:ext cx="9875520" cy="457200"/>
          </a:xfrm>
          <a:prstGeom prst="rect">
            <a:avLst/>
          </a:prstGeom>
          <a:noFill/>
        </p:spPr>
        <p:txBody>
          <a:bodyPr wrap="square" lIns="18288" rIns="18288" tIns="27432" bIns="0">
            <a:spAutoFit/>
          </a:bodyPr>
          <a:lstStyle/>
          <a:p>
            <a:pPr>
              <a:spcAft>
                <a:spcPts val="1000"/>
              </a:spcAft>
              <a:defRPr sz="2400" b="1">
                <a:solidFill>
                  <a:srgbClr val="14284B"/>
                </a:solidFill>
                <a:latin typeface="Aptos"/>
              </a:defRPr>
            </a:pPr>
            <a:r>
              <a:t>Before analysis</a:t>
            </a:r>
          </a:p>
        </p:txBody>
      </p:sp>
      <p:sp>
        <p:nvSpPr>
          <p:cNvPr id="10" name="TextBox 9"/>
          <p:cNvSpPr txBox="1"/>
          <p:nvPr/>
        </p:nvSpPr>
        <p:spPr>
          <a:xfrm>
            <a:off x="1371600" y="2441448"/>
            <a:ext cx="9784080" cy="640080"/>
          </a:xfrm>
          <a:prstGeom prst="rect">
            <a:avLst/>
          </a:prstGeom>
          <a:noFill/>
        </p:spPr>
        <p:txBody>
          <a:bodyPr wrap="square" lIns="18288" rIns="18288" tIns="27432" bIns="0">
            <a:spAutoFit/>
          </a:bodyPr>
          <a:lstStyle/>
          <a:p>
            <a:pPr>
              <a:spcAft>
                <a:spcPts val="1000"/>
              </a:spcAft>
              <a:defRPr sz="2000" b="0">
                <a:solidFill>
                  <a:srgbClr val="2A3140"/>
                </a:solidFill>
                <a:latin typeface="Aptos"/>
              </a:defRPr>
            </a:pPr>
            <a:r>
              <a:t>Show a few actual food documents and their linked nutrient records.</a:t>
            </a:r>
          </a:p>
        </p:txBody>
      </p:sp>
      <p:sp>
        <p:nvSpPr>
          <p:cNvPr id="11" name="TextBox 10"/>
          <p:cNvSpPr txBox="1"/>
          <p:nvPr/>
        </p:nvSpPr>
        <p:spPr>
          <a:xfrm>
            <a:off x="594360" y="3127248"/>
            <a:ext cx="594360" cy="594360"/>
          </a:xfrm>
          <a:prstGeom prst="rect">
            <a:avLst/>
          </a:prstGeom>
          <a:noFill/>
        </p:spPr>
        <p:txBody>
          <a:bodyPr wrap="square" lIns="18288" rIns="18288" tIns="27432" bIns="0">
            <a:spAutoFit/>
          </a:bodyPr>
          <a:lstStyle/>
          <a:p>
            <a:pPr>
              <a:spcAft>
                <a:spcPts val="1000"/>
              </a:spcAft>
              <a:defRPr sz="2700" b="1">
                <a:solidFill>
                  <a:srgbClr val="194F8E"/>
                </a:solidFill>
                <a:latin typeface="Aptos"/>
              </a:defRPr>
            </a:pPr>
            <a:r>
              <a:t>02</a:t>
            </a:r>
          </a:p>
        </p:txBody>
      </p:sp>
      <p:sp>
        <p:nvSpPr>
          <p:cNvPr id="12" name="TextBox 11"/>
          <p:cNvSpPr txBox="1"/>
          <p:nvPr/>
        </p:nvSpPr>
        <p:spPr>
          <a:xfrm>
            <a:off x="1371600" y="3127248"/>
            <a:ext cx="9875520" cy="457200"/>
          </a:xfrm>
          <a:prstGeom prst="rect">
            <a:avLst/>
          </a:prstGeom>
          <a:noFill/>
        </p:spPr>
        <p:txBody>
          <a:bodyPr wrap="square" lIns="18288" rIns="18288" tIns="27432" bIns="0">
            <a:spAutoFit/>
          </a:bodyPr>
          <a:lstStyle/>
          <a:p>
            <a:pPr>
              <a:spcAft>
                <a:spcPts val="1000"/>
              </a:spcAft>
              <a:defRPr sz="2400" b="1">
                <a:solidFill>
                  <a:srgbClr val="14284B"/>
                </a:solidFill>
                <a:latin typeface="Aptos"/>
              </a:defRPr>
            </a:pPr>
            <a:r>
              <a:t>After analysis</a:t>
            </a:r>
          </a:p>
        </p:txBody>
      </p:sp>
      <p:sp>
        <p:nvSpPr>
          <p:cNvPr id="13" name="TextBox 12"/>
          <p:cNvSpPr txBox="1"/>
          <p:nvPr/>
        </p:nvSpPr>
        <p:spPr>
          <a:xfrm>
            <a:off x="1371600" y="3739896"/>
            <a:ext cx="9784080" cy="640080"/>
          </a:xfrm>
          <a:prstGeom prst="rect">
            <a:avLst/>
          </a:prstGeom>
          <a:noFill/>
        </p:spPr>
        <p:txBody>
          <a:bodyPr wrap="square" lIns="18288" rIns="18288" tIns="27432" bIns="0">
            <a:spAutoFit/>
          </a:bodyPr>
          <a:lstStyle/>
          <a:p>
            <a:pPr>
              <a:spcAft>
                <a:spcPts val="1000"/>
              </a:spcAft>
              <a:defRPr sz="2000" b="0">
                <a:solidFill>
                  <a:srgbClr val="2A3140"/>
                </a:solidFill>
                <a:latin typeface="Aptos"/>
              </a:defRPr>
            </a:pPr>
            <a:r>
              <a:t>Show food counts, nutrient summaries and Text vs RCFile comparisons.</a:t>
            </a:r>
          </a:p>
        </p:txBody>
      </p:sp>
      <p:sp>
        <p:nvSpPr>
          <p:cNvPr id="14" name="TextBox 13"/>
          <p:cNvSpPr txBox="1"/>
          <p:nvPr/>
        </p:nvSpPr>
        <p:spPr>
          <a:xfrm>
            <a:off x="594360" y="4425696"/>
            <a:ext cx="594360" cy="594360"/>
          </a:xfrm>
          <a:prstGeom prst="rect">
            <a:avLst/>
          </a:prstGeom>
          <a:noFill/>
        </p:spPr>
        <p:txBody>
          <a:bodyPr wrap="square" lIns="18288" rIns="18288" tIns="27432" bIns="0">
            <a:spAutoFit/>
          </a:bodyPr>
          <a:lstStyle/>
          <a:p>
            <a:pPr>
              <a:spcAft>
                <a:spcPts val="1000"/>
              </a:spcAft>
              <a:defRPr sz="2700" b="1">
                <a:solidFill>
                  <a:srgbClr val="194F8E"/>
                </a:solidFill>
                <a:latin typeface="Aptos"/>
              </a:defRPr>
            </a:pPr>
            <a:r>
              <a:t>03</a:t>
            </a:r>
          </a:p>
        </p:txBody>
      </p:sp>
      <p:sp>
        <p:nvSpPr>
          <p:cNvPr id="15" name="TextBox 14"/>
          <p:cNvSpPr txBox="1"/>
          <p:nvPr/>
        </p:nvSpPr>
        <p:spPr>
          <a:xfrm>
            <a:off x="1371600" y="4425696"/>
            <a:ext cx="9875520" cy="457200"/>
          </a:xfrm>
          <a:prstGeom prst="rect">
            <a:avLst/>
          </a:prstGeom>
          <a:noFill/>
        </p:spPr>
        <p:txBody>
          <a:bodyPr wrap="square" lIns="18288" rIns="18288" tIns="27432" bIns="0">
            <a:spAutoFit/>
          </a:bodyPr>
          <a:lstStyle/>
          <a:p>
            <a:pPr>
              <a:spcAft>
                <a:spcPts val="1000"/>
              </a:spcAft>
              <a:defRPr sz="2400" b="1">
                <a:solidFill>
                  <a:srgbClr val="14284B"/>
                </a:solidFill>
                <a:latin typeface="Aptos"/>
              </a:defRPr>
            </a:pPr>
            <a:r>
              <a:t>Verify the source</a:t>
            </a:r>
          </a:p>
        </p:txBody>
      </p:sp>
      <p:sp>
        <p:nvSpPr>
          <p:cNvPr id="16" name="TextBox 15"/>
          <p:cNvSpPr txBox="1"/>
          <p:nvPr/>
        </p:nvSpPr>
        <p:spPr>
          <a:xfrm>
            <a:off x="1371600" y="5038344"/>
            <a:ext cx="9784080" cy="640080"/>
          </a:xfrm>
          <a:prstGeom prst="rect">
            <a:avLst/>
          </a:prstGeom>
          <a:noFill/>
        </p:spPr>
        <p:txBody>
          <a:bodyPr wrap="square" lIns="18288" rIns="18288" tIns="27432" bIns="0">
            <a:spAutoFit/>
          </a:bodyPr>
          <a:lstStyle/>
          <a:p>
            <a:pPr>
              <a:spcAft>
                <a:spcPts val="1000"/>
              </a:spcAft>
              <a:defRPr sz="2000" b="0">
                <a:solidFill>
                  <a:srgbClr val="2A3140"/>
                </a:solidFill>
                <a:latin typeface="Aptos"/>
              </a:defRPr>
            </a:pPr>
            <a:r>
              <a:t>Copy the command beside a result and inspect MongoDB or HDFS in a terminal.</a:t>
            </a:r>
          </a:p>
        </p:txBody>
      </p:sp>
      <p:sp>
        <p:nvSpPr>
          <p:cNvPr id="17" name="TextBox 16"/>
          <p:cNvSpPr txBox="1"/>
          <p:nvPr/>
        </p:nvSpPr>
        <p:spPr>
          <a:xfrm>
            <a:off x="685800" y="5870448"/>
            <a:ext cx="10789920" cy="320040"/>
          </a:xfrm>
          <a:prstGeom prst="rect">
            <a:avLst/>
          </a:prstGeom>
          <a:noFill/>
        </p:spPr>
        <p:txBody>
          <a:bodyPr wrap="square" lIns="18288" rIns="18288" tIns="27432" bIns="0">
            <a:spAutoFit/>
          </a:bodyPr>
          <a:lstStyle/>
          <a:p>
            <a:pPr>
              <a:spcAft>
                <a:spcPts val="1000"/>
              </a:spcAft>
              <a:defRPr sz="1700" b="0">
                <a:solidFill>
                  <a:srgbClr val="596678"/>
                </a:solidFill>
                <a:latin typeface="Aptos"/>
              </a:defRPr>
            </a:pPr>
            <a:r>
              <a:t>The dashboard also shows analysis progress, logs and the identity of the selected saved run.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20040"/>
            <a:ext cx="73152" cy="201168"/>
          </a:xfrm>
          <a:prstGeom prst="rect">
            <a:avLst/>
          </a:prstGeom>
          <a:solidFill>
            <a:srgbClr val="194F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65176"/>
            <a:ext cx="10058400" cy="274320"/>
          </a:xfrm>
          <a:prstGeom prst="rect">
            <a:avLst/>
          </a:prstGeom>
          <a:noFill/>
        </p:spPr>
        <p:txBody>
          <a:bodyPr wrap="square" lIns="18288" rIns="18288" tIns="27432" bIns="0">
            <a:spAutoFit/>
          </a:bodyPr>
          <a:lstStyle/>
          <a:p>
            <a:pPr>
              <a:spcAft>
                <a:spcPts val="1000"/>
              </a:spcAft>
              <a:defRPr sz="1100" b="1">
                <a:solidFill>
                  <a:srgbClr val="194F8E"/>
                </a:solidFill>
                <a:latin typeface="Aptos"/>
              </a:defRPr>
            </a:pPr>
            <a:r>
              <a:t>CONCLUSION</a:t>
            </a:r>
          </a:p>
        </p:txBody>
      </p:sp>
      <p:sp>
        <p:nvSpPr>
          <p:cNvPr id="4" name="TextBox 3"/>
          <p:cNvSpPr txBox="1"/>
          <p:nvPr/>
        </p:nvSpPr>
        <p:spPr>
          <a:xfrm>
            <a:off x="521207" y="777240"/>
            <a:ext cx="11064240" cy="914400"/>
          </a:xfrm>
          <a:prstGeom prst="rect">
            <a:avLst/>
          </a:prstGeom>
          <a:noFill/>
        </p:spPr>
        <p:txBody>
          <a:bodyPr wrap="square" lIns="18288" rIns="18288" tIns="27432" bIns="0">
            <a:spAutoFit/>
          </a:bodyPr>
          <a:lstStyle/>
          <a:p>
            <a:pPr>
              <a:spcAft>
                <a:spcPts val="1000"/>
              </a:spcAft>
              <a:defRPr sz="3000" b="1">
                <a:solidFill>
                  <a:srgbClr val="14284B"/>
                </a:solidFill>
                <a:latin typeface="Aptos"/>
              </a:defRPr>
            </a:pPr>
            <a:r>
              <a:t>One repeatable workflow—from food records to evidence</a:t>
            </a:r>
          </a:p>
        </p:txBody>
      </p:sp>
      <p:sp>
        <p:nvSpPr>
          <p:cNvPr id="5" name="Rectangle 4"/>
          <p:cNvSpPr/>
          <p:nvPr/>
        </p:nvSpPr>
        <p:spPr>
          <a:xfrm>
            <a:off x="548640" y="6428232"/>
            <a:ext cx="11064240" cy="10972"/>
          </a:xfrm>
          <a:prstGeom prst="rect">
            <a:avLst/>
          </a:prstGeom>
          <a:solidFill>
            <a:srgbClr val="D8E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058400" cy="228600"/>
          </a:xfrm>
          <a:prstGeom prst="rect">
            <a:avLst/>
          </a:prstGeom>
          <a:noFill/>
        </p:spPr>
        <p:txBody>
          <a:bodyPr wrap="square" lIns="18288" rIns="18288" tIns="27432" bIns="0">
            <a:spAutoFit/>
          </a:bodyPr>
          <a:lstStyle/>
          <a:p>
            <a:pPr>
              <a:spcAft>
                <a:spcPts val="1000"/>
              </a:spcAft>
              <a:defRPr sz="900" b="0">
                <a:solidFill>
                  <a:srgbClr val="596678"/>
                </a:solidFill>
                <a:latin typeface="Aptos"/>
              </a:defRPr>
            </a:pPr>
            <a:r>
              <a:t>USDA FOODDATA CENTRAL  /  BCS714D · TRACK B</a:t>
            </a:r>
          </a:p>
        </p:txBody>
      </p:sp>
      <p:sp>
        <p:nvSpPr>
          <p:cNvPr id="7" name="TextBox 6"/>
          <p:cNvSpPr txBox="1"/>
          <p:nvPr/>
        </p:nvSpPr>
        <p:spPr>
          <a:xfrm>
            <a:off x="10972800" y="6492240"/>
            <a:ext cx="594360" cy="228600"/>
          </a:xfrm>
          <a:prstGeom prst="rect">
            <a:avLst/>
          </a:prstGeom>
          <a:noFill/>
        </p:spPr>
        <p:txBody>
          <a:bodyPr wrap="square" lIns="18288" rIns="18288" tIns="27432" bIns="0">
            <a:spAutoFit/>
          </a:bodyPr>
          <a:lstStyle/>
          <a:p>
            <a:pPr algn="r">
              <a:spcAft>
                <a:spcPts val="1000"/>
              </a:spcAft>
              <a:defRPr sz="1000" b="1">
                <a:solidFill>
                  <a:srgbClr val="194F8E"/>
                </a:solidFill>
                <a:latin typeface="Aptos"/>
              </a:defRPr>
            </a:pPr>
            <a:r>
              <a:t>08</a:t>
            </a:r>
          </a:p>
        </p:txBody>
      </p:sp>
      <p:sp>
        <p:nvSpPr>
          <p:cNvPr id="8" name="TextBox 7"/>
          <p:cNvSpPr txBox="1"/>
          <p:nvPr/>
        </p:nvSpPr>
        <p:spPr>
          <a:xfrm>
            <a:off x="640080" y="1874519"/>
            <a:ext cx="10789920" cy="731520"/>
          </a:xfrm>
          <a:prstGeom prst="rect">
            <a:avLst/>
          </a:prstGeom>
          <a:noFill/>
        </p:spPr>
        <p:txBody>
          <a:bodyPr wrap="square" lIns="18288" rIns="18288" tIns="27432" bIns="0">
            <a:spAutoFit/>
          </a:bodyPr>
          <a:lstStyle/>
          <a:p>
            <a:pPr>
              <a:spcAft>
                <a:spcPts val="1000"/>
              </a:spcAft>
              <a:defRPr sz="2700" b="1">
                <a:solidFill>
                  <a:srgbClr val="14284B"/>
                </a:solidFill>
                <a:latin typeface="Aptos"/>
              </a:defRPr>
            </a:pPr>
            <a:r>
              <a:t>We connected food and nutrient data, processed it with multiple tools, and checked that the results agree.</a:t>
            </a:r>
          </a:p>
        </p:txBody>
      </p:sp>
      <p:sp>
        <p:nvSpPr>
          <p:cNvPr id="9" name="TextBox 8"/>
          <p:cNvSpPr txBox="1"/>
          <p:nvPr/>
        </p:nvSpPr>
        <p:spPr>
          <a:xfrm>
            <a:off x="594360" y="3108960"/>
            <a:ext cx="594360" cy="594360"/>
          </a:xfrm>
          <a:prstGeom prst="rect">
            <a:avLst/>
          </a:prstGeom>
          <a:noFill/>
        </p:spPr>
        <p:txBody>
          <a:bodyPr wrap="square" lIns="18288" rIns="18288" tIns="27432" bIns="0">
            <a:spAutoFit/>
          </a:bodyPr>
          <a:lstStyle/>
          <a:p>
            <a:pPr>
              <a:spcAft>
                <a:spcPts val="1000"/>
              </a:spcAft>
              <a:defRPr sz="2700" b="1">
                <a:solidFill>
                  <a:srgbClr val="194F8E"/>
                </a:solidFill>
                <a:latin typeface="Aptos"/>
              </a:defRPr>
            </a:pPr>
            <a:r>
              <a:t>01</a:t>
            </a:r>
          </a:p>
        </p:txBody>
      </p:sp>
      <p:sp>
        <p:nvSpPr>
          <p:cNvPr id="10" name="TextBox 9"/>
          <p:cNvSpPr txBox="1"/>
          <p:nvPr/>
        </p:nvSpPr>
        <p:spPr>
          <a:xfrm>
            <a:off x="1371600" y="3108960"/>
            <a:ext cx="9875520" cy="457200"/>
          </a:xfrm>
          <a:prstGeom prst="rect">
            <a:avLst/>
          </a:prstGeom>
          <a:noFill/>
        </p:spPr>
        <p:txBody>
          <a:bodyPr wrap="square" lIns="18288" rIns="18288" tIns="27432" bIns="0">
            <a:spAutoFit/>
          </a:bodyPr>
          <a:lstStyle/>
          <a:p>
            <a:pPr>
              <a:spcAft>
                <a:spcPts val="1000"/>
              </a:spcAft>
              <a:defRPr sz="2400" b="1">
                <a:solidFill>
                  <a:srgbClr val="14284B"/>
                </a:solidFill>
                <a:latin typeface="Aptos"/>
              </a:defRPr>
            </a:pPr>
            <a:r>
              <a:t>Data analytics</a:t>
            </a:r>
          </a:p>
        </p:txBody>
      </p:sp>
      <p:sp>
        <p:nvSpPr>
          <p:cNvPr id="11" name="TextBox 10"/>
          <p:cNvSpPr txBox="1"/>
          <p:nvPr/>
        </p:nvSpPr>
        <p:spPr>
          <a:xfrm>
            <a:off x="1371600" y="3721608"/>
            <a:ext cx="9784080" cy="640080"/>
          </a:xfrm>
          <a:prstGeom prst="rect">
            <a:avLst/>
          </a:prstGeom>
          <a:noFill/>
        </p:spPr>
        <p:txBody>
          <a:bodyPr wrap="square" lIns="18288" rIns="18288" tIns="27432" bIns="0">
            <a:spAutoFit/>
          </a:bodyPr>
          <a:lstStyle/>
          <a:p>
            <a:pPr>
              <a:spcAft>
                <a:spcPts val="1000"/>
              </a:spcAft>
              <a:defRPr sz="2000" b="0">
                <a:solidFill>
                  <a:srgbClr val="2A3140"/>
                </a:solidFill>
                <a:latin typeface="Aptos"/>
              </a:defRPr>
            </a:pPr>
            <a:r>
              <a:t>Food-type counts and nutrient count, total and mean summaries.</a:t>
            </a:r>
          </a:p>
        </p:txBody>
      </p:sp>
      <p:sp>
        <p:nvSpPr>
          <p:cNvPr id="12" name="TextBox 11"/>
          <p:cNvSpPr txBox="1"/>
          <p:nvPr/>
        </p:nvSpPr>
        <p:spPr>
          <a:xfrm>
            <a:off x="594360" y="4160520"/>
            <a:ext cx="594360" cy="594360"/>
          </a:xfrm>
          <a:prstGeom prst="rect">
            <a:avLst/>
          </a:prstGeom>
          <a:noFill/>
        </p:spPr>
        <p:txBody>
          <a:bodyPr wrap="square" lIns="18288" rIns="18288" tIns="27432" bIns="0">
            <a:spAutoFit/>
          </a:bodyPr>
          <a:lstStyle/>
          <a:p>
            <a:pPr>
              <a:spcAft>
                <a:spcPts val="1000"/>
              </a:spcAft>
              <a:defRPr sz="2700" b="1">
                <a:solidFill>
                  <a:srgbClr val="194F8E"/>
                </a:solidFill>
                <a:latin typeface="Aptos"/>
              </a:defRPr>
            </a:pPr>
            <a:r>
              <a:t>02</a:t>
            </a:r>
          </a:p>
        </p:txBody>
      </p:sp>
      <p:sp>
        <p:nvSpPr>
          <p:cNvPr id="13" name="TextBox 12"/>
          <p:cNvSpPr txBox="1"/>
          <p:nvPr/>
        </p:nvSpPr>
        <p:spPr>
          <a:xfrm>
            <a:off x="1371600" y="4160520"/>
            <a:ext cx="9875520" cy="457200"/>
          </a:xfrm>
          <a:prstGeom prst="rect">
            <a:avLst/>
          </a:prstGeom>
          <a:noFill/>
        </p:spPr>
        <p:txBody>
          <a:bodyPr wrap="square" lIns="18288" rIns="18288" tIns="27432" bIns="0">
            <a:spAutoFit/>
          </a:bodyPr>
          <a:lstStyle/>
          <a:p>
            <a:pPr>
              <a:spcAft>
                <a:spcPts val="1000"/>
              </a:spcAft>
              <a:defRPr sz="2400" b="1">
                <a:solidFill>
                  <a:srgbClr val="14284B"/>
                </a:solidFill>
                <a:latin typeface="Aptos"/>
              </a:defRPr>
            </a:pPr>
            <a:r>
              <a:t>Performance evidence</a:t>
            </a:r>
          </a:p>
        </p:txBody>
      </p:sp>
      <p:sp>
        <p:nvSpPr>
          <p:cNvPr id="14" name="TextBox 13"/>
          <p:cNvSpPr txBox="1"/>
          <p:nvPr/>
        </p:nvSpPr>
        <p:spPr>
          <a:xfrm>
            <a:off x="1371600" y="4773168"/>
            <a:ext cx="9784080" cy="640080"/>
          </a:xfrm>
          <a:prstGeom prst="rect">
            <a:avLst/>
          </a:prstGeom>
          <a:noFill/>
        </p:spPr>
        <p:txBody>
          <a:bodyPr wrap="square" lIns="18288" rIns="18288" tIns="27432" bIns="0">
            <a:spAutoFit/>
          </a:bodyPr>
          <a:lstStyle/>
          <a:p>
            <a:pPr>
              <a:spcAft>
                <a:spcPts val="1000"/>
              </a:spcAft>
              <a:defRPr sz="2000" b="0">
                <a:solidFill>
                  <a:srgbClr val="2A3140"/>
                </a:solidFill>
                <a:latin typeface="Aptos"/>
              </a:defRPr>
            </a:pPr>
            <a:r>
              <a:t>MongoDB index profiling and Hive Text/RCFile comparisons.</a:t>
            </a:r>
          </a:p>
        </p:txBody>
      </p:sp>
      <p:sp>
        <p:nvSpPr>
          <p:cNvPr id="15" name="TextBox 14"/>
          <p:cNvSpPr txBox="1"/>
          <p:nvPr/>
        </p:nvSpPr>
        <p:spPr>
          <a:xfrm>
            <a:off x="594360" y="5212080"/>
            <a:ext cx="594360" cy="594360"/>
          </a:xfrm>
          <a:prstGeom prst="rect">
            <a:avLst/>
          </a:prstGeom>
          <a:noFill/>
        </p:spPr>
        <p:txBody>
          <a:bodyPr wrap="square" lIns="18288" rIns="18288" tIns="27432" bIns="0">
            <a:spAutoFit/>
          </a:bodyPr>
          <a:lstStyle/>
          <a:p>
            <a:pPr>
              <a:spcAft>
                <a:spcPts val="1000"/>
              </a:spcAft>
              <a:defRPr sz="2700" b="1">
                <a:solidFill>
                  <a:srgbClr val="194F8E"/>
                </a:solidFill>
                <a:latin typeface="Aptos"/>
              </a:defRPr>
            </a:pPr>
            <a:r>
              <a:t>03</a:t>
            </a:r>
          </a:p>
        </p:txBody>
      </p:sp>
      <p:sp>
        <p:nvSpPr>
          <p:cNvPr id="16" name="TextBox 15"/>
          <p:cNvSpPr txBox="1"/>
          <p:nvPr/>
        </p:nvSpPr>
        <p:spPr>
          <a:xfrm>
            <a:off x="1371600" y="5212080"/>
            <a:ext cx="9875520" cy="457200"/>
          </a:xfrm>
          <a:prstGeom prst="rect">
            <a:avLst/>
          </a:prstGeom>
          <a:noFill/>
        </p:spPr>
        <p:txBody>
          <a:bodyPr wrap="square" lIns="18288" rIns="18288" tIns="27432" bIns="0">
            <a:spAutoFit/>
          </a:bodyPr>
          <a:lstStyle/>
          <a:p>
            <a:pPr>
              <a:spcAft>
                <a:spcPts val="1000"/>
              </a:spcAft>
              <a:defRPr sz="2400" b="1">
                <a:solidFill>
                  <a:srgbClr val="14284B"/>
                </a:solidFill>
                <a:latin typeface="Aptos"/>
              </a:defRPr>
            </a:pPr>
            <a:r>
              <a:t>A demonstrable application</a:t>
            </a:r>
          </a:p>
        </p:txBody>
      </p:sp>
      <p:sp>
        <p:nvSpPr>
          <p:cNvPr id="17" name="TextBox 16"/>
          <p:cNvSpPr txBox="1"/>
          <p:nvPr/>
        </p:nvSpPr>
        <p:spPr>
          <a:xfrm>
            <a:off x="1371600" y="5824728"/>
            <a:ext cx="9784080" cy="640080"/>
          </a:xfrm>
          <a:prstGeom prst="rect">
            <a:avLst/>
          </a:prstGeom>
          <a:noFill/>
        </p:spPr>
        <p:txBody>
          <a:bodyPr wrap="square" lIns="18288" rIns="18288" tIns="27432" bIns="0">
            <a:spAutoFit/>
          </a:bodyPr>
          <a:lstStyle/>
          <a:p>
            <a:pPr>
              <a:spcAft>
                <a:spcPts val="1000"/>
              </a:spcAft>
              <a:defRPr sz="2000" b="0">
                <a:solidFill>
                  <a:srgbClr val="2A3140"/>
                </a:solidFill>
                <a:latin typeface="Aptos"/>
              </a:defRPr>
            </a:pPr>
            <a:r>
              <a:t>Flask dashboard: results, progress and verification commands.</a:t>
            </a:r>
          </a:p>
        </p:txBody>
      </p:sp>
      <p:sp>
        <p:nvSpPr>
          <p:cNvPr id="18" name="TextBox 17"/>
          <p:cNvSpPr txBox="1"/>
          <p:nvPr/>
        </p:nvSpPr>
        <p:spPr>
          <a:xfrm>
            <a:off x="658368" y="6117336"/>
            <a:ext cx="10881360" cy="219456"/>
          </a:xfrm>
          <a:prstGeom prst="rect">
            <a:avLst/>
          </a:prstGeom>
          <a:noFill/>
        </p:spPr>
        <p:txBody>
          <a:bodyPr wrap="square" lIns="18288" rIns="18288" tIns="27432" bIns="0">
            <a:spAutoFit/>
          </a:bodyPr>
          <a:lstStyle/>
          <a:p>
            <a:pPr>
              <a:spcAft>
                <a:spcPts val="1000"/>
              </a:spcAft>
              <a:defRPr sz="1100" b="0">
                <a:solidFill>
                  <a:srgbClr val="596678"/>
                </a:solidFill>
                <a:latin typeface="Aptos"/>
              </a:defRPr>
            </a:pPr>
            <a:r>
              <a:t>USDA: fdc.nal.usda.gov/download-datasets/  |  github.com/Dhanush-singh-g/BDA-Assignment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&amp; Nutrient Analytics — USDA FoodData Central</dc:title>
  <dc:subject>BCS714D Track B project presentation</dc:subject>
  <dc:creator>Abhishek R; Adithya V; Dhanush Singh 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